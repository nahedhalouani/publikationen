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587" r:id="rId1"/>
  </p:sldMasterIdLst>
  <p:sldIdLst>
    <p:sldId id="256" r:id="rId2"/>
  </p:sldIdLst>
  <p:sldSz cx="21383625" cy="32975550"/>
  <p:notesSz cx="6858000" cy="9144000"/>
  <p:defaultTextStyle>
    <a:defPPr>
      <a:defRPr lang="en-US"/>
    </a:defPPr>
    <a:lvl1pPr marL="0" algn="l" defTabSz="2907143" rtl="0" eaLnBrk="1" latinLnBrk="0" hangingPunct="1">
      <a:defRPr sz="5717" kern="1200">
        <a:solidFill>
          <a:schemeClr val="tx1"/>
        </a:solidFill>
        <a:latin typeface="+mn-lt"/>
        <a:ea typeface="+mn-ea"/>
        <a:cs typeface="+mn-cs"/>
      </a:defRPr>
    </a:lvl1pPr>
    <a:lvl2pPr marL="1453569" algn="l" defTabSz="2907143" rtl="0" eaLnBrk="1" latinLnBrk="0" hangingPunct="1">
      <a:defRPr sz="5717" kern="1200">
        <a:solidFill>
          <a:schemeClr val="tx1"/>
        </a:solidFill>
        <a:latin typeface="+mn-lt"/>
        <a:ea typeface="+mn-ea"/>
        <a:cs typeface="+mn-cs"/>
      </a:defRPr>
    </a:lvl2pPr>
    <a:lvl3pPr marL="2907143" algn="l" defTabSz="2907143" rtl="0" eaLnBrk="1" latinLnBrk="0" hangingPunct="1">
      <a:defRPr sz="5717" kern="1200">
        <a:solidFill>
          <a:schemeClr val="tx1"/>
        </a:solidFill>
        <a:latin typeface="+mn-lt"/>
        <a:ea typeface="+mn-ea"/>
        <a:cs typeface="+mn-cs"/>
      </a:defRPr>
    </a:lvl3pPr>
    <a:lvl4pPr marL="4360711" algn="l" defTabSz="2907143" rtl="0" eaLnBrk="1" latinLnBrk="0" hangingPunct="1">
      <a:defRPr sz="5717" kern="1200">
        <a:solidFill>
          <a:schemeClr val="tx1"/>
        </a:solidFill>
        <a:latin typeface="+mn-lt"/>
        <a:ea typeface="+mn-ea"/>
        <a:cs typeface="+mn-cs"/>
      </a:defRPr>
    </a:lvl4pPr>
    <a:lvl5pPr marL="5814279" algn="l" defTabSz="2907143" rtl="0" eaLnBrk="1" latinLnBrk="0" hangingPunct="1">
      <a:defRPr sz="5717" kern="1200">
        <a:solidFill>
          <a:schemeClr val="tx1"/>
        </a:solidFill>
        <a:latin typeface="+mn-lt"/>
        <a:ea typeface="+mn-ea"/>
        <a:cs typeface="+mn-cs"/>
      </a:defRPr>
    </a:lvl5pPr>
    <a:lvl6pPr marL="7267847" algn="l" defTabSz="2907143" rtl="0" eaLnBrk="1" latinLnBrk="0" hangingPunct="1">
      <a:defRPr sz="5717" kern="1200">
        <a:solidFill>
          <a:schemeClr val="tx1"/>
        </a:solidFill>
        <a:latin typeface="+mn-lt"/>
        <a:ea typeface="+mn-ea"/>
        <a:cs typeface="+mn-cs"/>
      </a:defRPr>
    </a:lvl6pPr>
    <a:lvl7pPr marL="8721421" algn="l" defTabSz="2907143" rtl="0" eaLnBrk="1" latinLnBrk="0" hangingPunct="1">
      <a:defRPr sz="5717" kern="1200">
        <a:solidFill>
          <a:schemeClr val="tx1"/>
        </a:solidFill>
        <a:latin typeface="+mn-lt"/>
        <a:ea typeface="+mn-ea"/>
        <a:cs typeface="+mn-cs"/>
      </a:defRPr>
    </a:lvl7pPr>
    <a:lvl8pPr marL="10174990" algn="l" defTabSz="2907143" rtl="0" eaLnBrk="1" latinLnBrk="0" hangingPunct="1">
      <a:defRPr sz="5717" kern="1200">
        <a:solidFill>
          <a:schemeClr val="tx1"/>
        </a:solidFill>
        <a:latin typeface="+mn-lt"/>
        <a:ea typeface="+mn-ea"/>
        <a:cs typeface="+mn-cs"/>
      </a:defRPr>
    </a:lvl8pPr>
    <a:lvl9pPr marL="11628558" algn="l" defTabSz="2907143" rtl="0" eaLnBrk="1" latinLnBrk="0" hangingPunct="1">
      <a:defRPr sz="5717"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455" userDrawn="1">
          <p15:clr>
            <a:srgbClr val="A4A3A4"/>
          </p15:clr>
        </p15:guide>
        <p15:guide id="2" pos="67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7785"/>
    <a:srgbClr val="F3FCFE"/>
    <a:srgbClr val="1BBBE9"/>
    <a:srgbClr val="9AA39A"/>
    <a:srgbClr val="3C4650"/>
    <a:srgbClr val="7A867A"/>
    <a:srgbClr val="3E444C"/>
    <a:srgbClr val="D9D9D9"/>
    <a:srgbClr val="00CC9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545" autoAdjust="0"/>
    <p:restoredTop sz="96433" autoAdjust="0"/>
  </p:normalViewPr>
  <p:slideViewPr>
    <p:cSldViewPr>
      <p:cViewPr>
        <p:scale>
          <a:sx n="25" d="100"/>
          <a:sy n="25" d="100"/>
        </p:scale>
        <p:origin x="2606" y="-941"/>
      </p:cViewPr>
      <p:guideLst>
        <p:guide orient="horz" pos="10455"/>
        <p:guide pos="6735"/>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5396695"/>
            <a:ext cx="18176081" cy="11480377"/>
          </a:xfrm>
        </p:spPr>
        <p:txBody>
          <a:bodyPr anchor="b"/>
          <a:lstStyle>
            <a:lvl1pPr algn="ctr">
              <a:defRPr sz="14031"/>
            </a:lvl1pPr>
          </a:lstStyle>
          <a:p>
            <a:r>
              <a:rPr lang="en-US"/>
              <a:t>Click to edit Master title style</a:t>
            </a:r>
            <a:endParaRPr lang="en-US" dirty="0"/>
          </a:p>
        </p:txBody>
      </p:sp>
      <p:sp>
        <p:nvSpPr>
          <p:cNvPr id="3" name="Subtitle 2"/>
          <p:cNvSpPr>
            <a:spLocks noGrp="1"/>
          </p:cNvSpPr>
          <p:nvPr>
            <p:ph type="subTitle" idx="1"/>
          </p:nvPr>
        </p:nvSpPr>
        <p:spPr>
          <a:xfrm>
            <a:off x="2672953" y="17319799"/>
            <a:ext cx="16037719" cy="7961456"/>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FFB50AC-EFA5-489C-ADE4-DF94DFD1B3E8}" type="datetimeFigureOut">
              <a:rPr lang="en-US" smtClean="0"/>
              <a:pPr/>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5AF4D9-4CAA-4649-A768-3B8B5510A194}" type="slidenum">
              <a:rPr lang="en-US" smtClean="0"/>
              <a:pPr/>
              <a:t>‹Nr.›</a:t>
            </a:fld>
            <a:endParaRPr lang="en-US"/>
          </a:p>
        </p:txBody>
      </p:sp>
    </p:spTree>
    <p:extLst>
      <p:ext uri="{BB962C8B-B14F-4D97-AF65-F5344CB8AC3E}">
        <p14:creationId xmlns:p14="http://schemas.microsoft.com/office/powerpoint/2010/main" val="65438146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FB50AC-EFA5-489C-ADE4-DF94DFD1B3E8}" type="datetimeFigureOut">
              <a:rPr lang="en-US" smtClean="0"/>
              <a:pPr/>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5AF4D9-4CAA-4649-A768-3B8B5510A194}" type="slidenum">
              <a:rPr lang="en-US" smtClean="0"/>
              <a:pPr/>
              <a:t>‹Nr.›</a:t>
            </a:fld>
            <a:endParaRPr lang="en-US"/>
          </a:p>
        </p:txBody>
      </p:sp>
    </p:spTree>
    <p:extLst>
      <p:ext uri="{BB962C8B-B14F-4D97-AF65-F5344CB8AC3E}">
        <p14:creationId xmlns:p14="http://schemas.microsoft.com/office/powerpoint/2010/main" val="260520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8" y="8220998"/>
            <a:ext cx="18443377" cy="13716910"/>
          </a:xfrm>
        </p:spPr>
        <p:txBody>
          <a:bodyPr anchor="b"/>
          <a:lstStyle>
            <a:lvl1pPr>
              <a:defRPr sz="14031"/>
            </a:lvl1pPr>
          </a:lstStyle>
          <a:p>
            <a:r>
              <a:rPr lang="en-US"/>
              <a:t>Click to edit Master title style</a:t>
            </a:r>
            <a:endParaRPr lang="en-US" dirty="0"/>
          </a:p>
        </p:txBody>
      </p:sp>
      <p:sp>
        <p:nvSpPr>
          <p:cNvPr id="3" name="Text Placeholder 2"/>
          <p:cNvSpPr>
            <a:spLocks noGrp="1"/>
          </p:cNvSpPr>
          <p:nvPr>
            <p:ph type="body" idx="1"/>
          </p:nvPr>
        </p:nvSpPr>
        <p:spPr>
          <a:xfrm>
            <a:off x="1458988" y="22067675"/>
            <a:ext cx="18443377" cy="7213399"/>
          </a:xfrm>
        </p:spPr>
        <p:txBody>
          <a:bodyPr/>
          <a:lstStyle>
            <a:lvl1pPr marL="0" indent="0">
              <a:buNone/>
              <a:defRPr sz="5612">
                <a:solidFill>
                  <a:schemeClr val="tx1"/>
                </a:solidFill>
              </a:defRPr>
            </a:lvl1pPr>
            <a:lvl2pPr marL="1069162" indent="0">
              <a:buNone/>
              <a:defRPr sz="4677">
                <a:solidFill>
                  <a:schemeClr val="tx1">
                    <a:tint val="75000"/>
                  </a:schemeClr>
                </a:solidFill>
              </a:defRPr>
            </a:lvl2pPr>
            <a:lvl3pPr marL="2138324" indent="0">
              <a:buNone/>
              <a:defRPr sz="4209">
                <a:solidFill>
                  <a:schemeClr val="tx1">
                    <a:tint val="75000"/>
                  </a:schemeClr>
                </a:solidFill>
              </a:defRPr>
            </a:lvl3pPr>
            <a:lvl4pPr marL="3207487" indent="0">
              <a:buNone/>
              <a:defRPr sz="3742">
                <a:solidFill>
                  <a:schemeClr val="tx1">
                    <a:tint val="75000"/>
                  </a:schemeClr>
                </a:solidFill>
              </a:defRPr>
            </a:lvl4pPr>
            <a:lvl5pPr marL="4276649" indent="0">
              <a:buNone/>
              <a:defRPr sz="3742">
                <a:solidFill>
                  <a:schemeClr val="tx1">
                    <a:tint val="75000"/>
                  </a:schemeClr>
                </a:solidFill>
              </a:defRPr>
            </a:lvl5pPr>
            <a:lvl6pPr marL="5345811" indent="0">
              <a:buNone/>
              <a:defRPr sz="3742">
                <a:solidFill>
                  <a:schemeClr val="tx1">
                    <a:tint val="75000"/>
                  </a:schemeClr>
                </a:solidFill>
              </a:defRPr>
            </a:lvl6pPr>
            <a:lvl7pPr marL="6414973" indent="0">
              <a:buNone/>
              <a:defRPr sz="3742">
                <a:solidFill>
                  <a:schemeClr val="tx1">
                    <a:tint val="75000"/>
                  </a:schemeClr>
                </a:solidFill>
              </a:defRPr>
            </a:lvl7pPr>
            <a:lvl8pPr marL="7484135" indent="0">
              <a:buNone/>
              <a:defRPr sz="3742">
                <a:solidFill>
                  <a:schemeClr val="tx1">
                    <a:tint val="75000"/>
                  </a:schemeClr>
                </a:solidFill>
              </a:defRPr>
            </a:lvl8pPr>
            <a:lvl9pPr marL="8553298" indent="0">
              <a:buNone/>
              <a:defRPr sz="3742">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FFB50AC-EFA5-489C-ADE4-DF94DFD1B3E8}" type="datetimeFigureOut">
              <a:rPr lang="en-US" smtClean="0"/>
              <a:pPr/>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5AF4D9-4CAA-4649-A768-3B8B5510A194}" type="slidenum">
              <a:rPr lang="en-US" smtClean="0"/>
              <a:pPr/>
              <a:t>‹Nr.›</a:t>
            </a:fld>
            <a:endParaRPr lang="en-US"/>
          </a:p>
        </p:txBody>
      </p:sp>
    </p:spTree>
    <p:extLst>
      <p:ext uri="{BB962C8B-B14F-4D97-AF65-F5344CB8AC3E}">
        <p14:creationId xmlns:p14="http://schemas.microsoft.com/office/powerpoint/2010/main" val="921946893"/>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70124" y="8778213"/>
            <a:ext cx="9088041" cy="209226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825460" y="8778213"/>
            <a:ext cx="9088041" cy="209226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FB50AC-EFA5-489C-ADE4-DF94DFD1B3E8}" type="datetimeFigureOut">
              <a:rPr lang="en-US" smtClean="0"/>
              <a:pPr/>
              <a:t>3/30/2024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5AF4D9-4CAA-4649-A768-3B8B5510A194}" type="slidenum">
              <a:rPr lang="en-US" smtClean="0"/>
              <a:pPr/>
              <a:t>‹Nr.›</a:t>
            </a:fld>
            <a:endParaRPr lang="en-US"/>
          </a:p>
        </p:txBody>
      </p:sp>
    </p:spTree>
    <p:extLst>
      <p:ext uri="{BB962C8B-B14F-4D97-AF65-F5344CB8AC3E}">
        <p14:creationId xmlns:p14="http://schemas.microsoft.com/office/powerpoint/2010/main" val="4016068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755650"/>
            <a:ext cx="18443377" cy="63737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72912" y="8083592"/>
            <a:ext cx="9046274" cy="3961644"/>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Edit Master text styles</a:t>
            </a:r>
          </a:p>
        </p:txBody>
      </p:sp>
      <p:sp>
        <p:nvSpPr>
          <p:cNvPr id="4" name="Content Placeholder 3"/>
          <p:cNvSpPr>
            <a:spLocks noGrp="1"/>
          </p:cNvSpPr>
          <p:nvPr>
            <p:ph sz="half" idx="2"/>
          </p:nvPr>
        </p:nvSpPr>
        <p:spPr>
          <a:xfrm>
            <a:off x="1472912" y="12045236"/>
            <a:ext cx="9046274" cy="1771672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825461" y="8083592"/>
            <a:ext cx="9090826" cy="3961644"/>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Edit Master text styles</a:t>
            </a:r>
          </a:p>
        </p:txBody>
      </p:sp>
      <p:sp>
        <p:nvSpPr>
          <p:cNvPr id="6" name="Content Placeholder 5"/>
          <p:cNvSpPr>
            <a:spLocks noGrp="1"/>
          </p:cNvSpPr>
          <p:nvPr>
            <p:ph sz="quarter" idx="4"/>
          </p:nvPr>
        </p:nvSpPr>
        <p:spPr>
          <a:xfrm>
            <a:off x="10825461" y="12045236"/>
            <a:ext cx="9090826" cy="1771672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FFB50AC-EFA5-489C-ADE4-DF94DFD1B3E8}" type="datetimeFigureOut">
              <a:rPr lang="en-US" smtClean="0"/>
              <a:pPr/>
              <a:t>3/30/2024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E5AF4D9-4CAA-4649-A768-3B8B5510A194}" type="slidenum">
              <a:rPr lang="en-US" smtClean="0"/>
              <a:pPr/>
              <a:t>‹Nr.›</a:t>
            </a:fld>
            <a:endParaRPr lang="en-US"/>
          </a:p>
        </p:txBody>
      </p:sp>
    </p:spTree>
    <p:extLst>
      <p:ext uri="{BB962C8B-B14F-4D97-AF65-F5344CB8AC3E}">
        <p14:creationId xmlns:p14="http://schemas.microsoft.com/office/powerpoint/2010/main" val="142955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FFB50AC-EFA5-489C-ADE4-DF94DFD1B3E8}" type="datetimeFigureOut">
              <a:rPr lang="en-US" smtClean="0"/>
              <a:pPr/>
              <a:t>3/30/2024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E5AF4D9-4CAA-4649-A768-3B8B5510A194}" type="slidenum">
              <a:rPr lang="en-US" smtClean="0"/>
              <a:pPr/>
              <a:t>‹Nr.›</a:t>
            </a:fld>
            <a:endParaRPr lang="en-US"/>
          </a:p>
        </p:txBody>
      </p:sp>
    </p:spTree>
    <p:extLst>
      <p:ext uri="{BB962C8B-B14F-4D97-AF65-F5344CB8AC3E}">
        <p14:creationId xmlns:p14="http://schemas.microsoft.com/office/powerpoint/2010/main" val="2367390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FB50AC-EFA5-489C-ADE4-DF94DFD1B3E8}" type="datetimeFigureOut">
              <a:rPr lang="en-US" smtClean="0"/>
              <a:pPr/>
              <a:t>3/30/2024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E5AF4D9-4CAA-4649-A768-3B8B5510A194}" type="slidenum">
              <a:rPr lang="en-US" smtClean="0"/>
              <a:pPr/>
              <a:t>‹Nr.›</a:t>
            </a:fld>
            <a:endParaRPr lang="en-US"/>
          </a:p>
        </p:txBody>
      </p:sp>
    </p:spTree>
    <p:extLst>
      <p:ext uri="{BB962C8B-B14F-4D97-AF65-F5344CB8AC3E}">
        <p14:creationId xmlns:p14="http://schemas.microsoft.com/office/powerpoint/2010/main" val="406755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198370"/>
            <a:ext cx="6896776" cy="7694295"/>
          </a:xfrm>
        </p:spPr>
        <p:txBody>
          <a:bodyPr anchor="b"/>
          <a:lstStyle>
            <a:lvl1pPr>
              <a:defRPr sz="7483"/>
            </a:lvl1pPr>
          </a:lstStyle>
          <a:p>
            <a:r>
              <a:rPr lang="en-US"/>
              <a:t>Click to edit Master title style</a:t>
            </a:r>
            <a:endParaRPr lang="en-US" dirty="0"/>
          </a:p>
        </p:txBody>
      </p:sp>
      <p:sp>
        <p:nvSpPr>
          <p:cNvPr id="3" name="Content Placeholder 2"/>
          <p:cNvSpPr>
            <a:spLocks noGrp="1"/>
          </p:cNvSpPr>
          <p:nvPr>
            <p:ph idx="1"/>
          </p:nvPr>
        </p:nvSpPr>
        <p:spPr>
          <a:xfrm>
            <a:off x="9090826" y="4747876"/>
            <a:ext cx="10825460" cy="23434014"/>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72909" y="9892665"/>
            <a:ext cx="6896776" cy="1832738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Edit Master text styles</a:t>
            </a:r>
          </a:p>
        </p:txBody>
      </p:sp>
      <p:sp>
        <p:nvSpPr>
          <p:cNvPr id="5" name="Date Placeholder 4"/>
          <p:cNvSpPr>
            <a:spLocks noGrp="1"/>
          </p:cNvSpPr>
          <p:nvPr>
            <p:ph type="dt" sz="half" idx="10"/>
          </p:nvPr>
        </p:nvSpPr>
        <p:spPr/>
        <p:txBody>
          <a:bodyPr/>
          <a:lstStyle/>
          <a:p>
            <a:fld id="{2FFB50AC-EFA5-489C-ADE4-DF94DFD1B3E8}" type="datetimeFigureOut">
              <a:rPr lang="en-US" smtClean="0"/>
              <a:pPr/>
              <a:t>3/30/2024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5AF4D9-4CAA-4649-A768-3B8B5510A194}" type="slidenum">
              <a:rPr lang="en-US" smtClean="0"/>
              <a:pPr/>
              <a:t>‹Nr.›</a:t>
            </a:fld>
            <a:endParaRPr lang="en-US"/>
          </a:p>
        </p:txBody>
      </p:sp>
    </p:spTree>
    <p:extLst>
      <p:ext uri="{BB962C8B-B14F-4D97-AF65-F5344CB8AC3E}">
        <p14:creationId xmlns:p14="http://schemas.microsoft.com/office/powerpoint/2010/main" val="4185753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198370"/>
            <a:ext cx="6896776" cy="7694295"/>
          </a:xfrm>
        </p:spPr>
        <p:txBody>
          <a:bodyPr anchor="b"/>
          <a:lstStyle>
            <a:lvl1pPr>
              <a:defRPr sz="7483"/>
            </a:lvl1pPr>
          </a:lstStyle>
          <a:p>
            <a:r>
              <a:rPr lang="en-US"/>
              <a:t>Click to edit Master title style</a:t>
            </a:r>
            <a:endParaRPr lang="en-US" dirty="0"/>
          </a:p>
        </p:txBody>
      </p:sp>
      <p:sp>
        <p:nvSpPr>
          <p:cNvPr id="3" name="Picture Placeholder 2"/>
          <p:cNvSpPr>
            <a:spLocks noGrp="1" noChangeAspect="1"/>
          </p:cNvSpPr>
          <p:nvPr>
            <p:ph type="pic" idx="1"/>
          </p:nvPr>
        </p:nvSpPr>
        <p:spPr>
          <a:xfrm>
            <a:off x="9090826" y="4747876"/>
            <a:ext cx="10825460" cy="23434014"/>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en-US"/>
              <a:t>Click icon to add picture</a:t>
            </a:r>
            <a:endParaRPr lang="en-US" dirty="0"/>
          </a:p>
        </p:txBody>
      </p:sp>
      <p:sp>
        <p:nvSpPr>
          <p:cNvPr id="4" name="Text Placeholder 3"/>
          <p:cNvSpPr>
            <a:spLocks noGrp="1"/>
          </p:cNvSpPr>
          <p:nvPr>
            <p:ph type="body" sz="half" idx="2"/>
          </p:nvPr>
        </p:nvSpPr>
        <p:spPr>
          <a:xfrm>
            <a:off x="1472909" y="9892665"/>
            <a:ext cx="6896776" cy="1832738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Edit Master text styles</a:t>
            </a:r>
          </a:p>
        </p:txBody>
      </p:sp>
      <p:sp>
        <p:nvSpPr>
          <p:cNvPr id="5" name="Date Placeholder 4"/>
          <p:cNvSpPr>
            <a:spLocks noGrp="1"/>
          </p:cNvSpPr>
          <p:nvPr>
            <p:ph type="dt" sz="half" idx="10"/>
          </p:nvPr>
        </p:nvSpPr>
        <p:spPr/>
        <p:txBody>
          <a:bodyPr/>
          <a:lstStyle/>
          <a:p>
            <a:fld id="{2FFB50AC-EFA5-489C-ADE4-DF94DFD1B3E8}" type="datetimeFigureOut">
              <a:rPr lang="en-US" smtClean="0"/>
              <a:pPr/>
              <a:t>3/30/2024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5AF4D9-4CAA-4649-A768-3B8B5510A194}" type="slidenum">
              <a:rPr lang="en-US" smtClean="0"/>
              <a:pPr/>
              <a:t>‹Nr.›</a:t>
            </a:fld>
            <a:endParaRPr lang="en-US"/>
          </a:p>
        </p:txBody>
      </p:sp>
    </p:spTree>
    <p:extLst>
      <p:ext uri="{BB962C8B-B14F-4D97-AF65-F5344CB8AC3E}">
        <p14:creationId xmlns:p14="http://schemas.microsoft.com/office/powerpoint/2010/main" val="1985644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FB50AC-EFA5-489C-ADE4-DF94DFD1B3E8}" type="datetimeFigureOut">
              <a:rPr lang="en-US" smtClean="0"/>
              <a:pPr/>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5AF4D9-4CAA-4649-A768-3B8B5510A194}" type="slidenum">
              <a:rPr lang="en-US" smtClean="0"/>
              <a:pPr/>
              <a:t>‹Nr.›</a:t>
            </a:fld>
            <a:endParaRPr lang="en-US"/>
          </a:p>
        </p:txBody>
      </p:sp>
    </p:spTree>
    <p:extLst>
      <p:ext uri="{BB962C8B-B14F-4D97-AF65-F5344CB8AC3E}">
        <p14:creationId xmlns:p14="http://schemas.microsoft.com/office/powerpoint/2010/main" val="3126790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755643"/>
            <a:ext cx="4610844" cy="2794525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70125" y="1755643"/>
            <a:ext cx="13565237" cy="2794525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FB50AC-EFA5-489C-ADE4-DF94DFD1B3E8}" type="datetimeFigureOut">
              <a:rPr lang="en-US" smtClean="0"/>
              <a:pPr/>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5AF4D9-4CAA-4649-A768-3B8B5510A194}" type="slidenum">
              <a:rPr lang="en-US" smtClean="0"/>
              <a:pPr/>
              <a:t>‹Nr.›</a:t>
            </a:fld>
            <a:endParaRPr lang="en-US"/>
          </a:p>
        </p:txBody>
      </p:sp>
    </p:spTree>
    <p:extLst>
      <p:ext uri="{BB962C8B-B14F-4D97-AF65-F5344CB8AC3E}">
        <p14:creationId xmlns:p14="http://schemas.microsoft.com/office/powerpoint/2010/main" val="53786912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755650"/>
            <a:ext cx="18443377" cy="63737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70124" y="8778213"/>
            <a:ext cx="18443377" cy="2092268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70124" y="30563457"/>
            <a:ext cx="4811316" cy="1755643"/>
          </a:xfrm>
          <a:prstGeom prst="rect">
            <a:avLst/>
          </a:prstGeom>
        </p:spPr>
        <p:txBody>
          <a:bodyPr vert="horz" lIns="91440" tIns="45720" rIns="91440" bIns="45720" rtlCol="0" anchor="ctr"/>
          <a:lstStyle>
            <a:lvl1pPr algn="l">
              <a:defRPr sz="2806">
                <a:solidFill>
                  <a:schemeClr val="tx1">
                    <a:tint val="75000"/>
                  </a:schemeClr>
                </a:solidFill>
              </a:defRPr>
            </a:lvl1pPr>
          </a:lstStyle>
          <a:p>
            <a:fld id="{2FFB50AC-EFA5-489C-ADE4-DF94DFD1B3E8}" type="datetimeFigureOut">
              <a:rPr lang="en-US" smtClean="0"/>
              <a:pPr/>
              <a:t>3/30/2024</a:t>
            </a:fld>
            <a:endParaRPr lang="en-US"/>
          </a:p>
        </p:txBody>
      </p:sp>
      <p:sp>
        <p:nvSpPr>
          <p:cNvPr id="5" name="Footer Placeholder 4"/>
          <p:cNvSpPr>
            <a:spLocks noGrp="1"/>
          </p:cNvSpPr>
          <p:nvPr>
            <p:ph type="ftr" sz="quarter" idx="3"/>
          </p:nvPr>
        </p:nvSpPr>
        <p:spPr>
          <a:xfrm>
            <a:off x="7083326" y="30563457"/>
            <a:ext cx="7216973" cy="1755643"/>
          </a:xfrm>
          <a:prstGeom prst="rect">
            <a:avLst/>
          </a:prstGeom>
        </p:spPr>
        <p:txBody>
          <a:bodyPr vert="horz" lIns="91440" tIns="45720" rIns="91440" bIns="45720" rtlCol="0" anchor="ctr"/>
          <a:lstStyle>
            <a:lvl1pPr algn="ctr">
              <a:defRPr sz="2806">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102185" y="30563457"/>
            <a:ext cx="4811316" cy="1755643"/>
          </a:xfrm>
          <a:prstGeom prst="rect">
            <a:avLst/>
          </a:prstGeom>
        </p:spPr>
        <p:txBody>
          <a:bodyPr vert="horz" lIns="91440" tIns="45720" rIns="91440" bIns="45720" rtlCol="0" anchor="ctr"/>
          <a:lstStyle>
            <a:lvl1pPr algn="r">
              <a:defRPr sz="2806">
                <a:solidFill>
                  <a:schemeClr val="tx1">
                    <a:tint val="75000"/>
                  </a:schemeClr>
                </a:solidFill>
              </a:defRPr>
            </a:lvl1pPr>
          </a:lstStyle>
          <a:p>
            <a:fld id="{EE5AF4D9-4CAA-4649-A768-3B8B5510A194}" type="slidenum">
              <a:rPr lang="en-US" smtClean="0"/>
              <a:pPr/>
              <a:t>‹Nr.›</a:t>
            </a:fld>
            <a:endParaRPr lang="en-US"/>
          </a:p>
        </p:txBody>
      </p:sp>
    </p:spTree>
    <p:extLst>
      <p:ext uri="{BB962C8B-B14F-4D97-AF65-F5344CB8AC3E}">
        <p14:creationId xmlns:p14="http://schemas.microsoft.com/office/powerpoint/2010/main" val="2935018117"/>
      </p:ext>
    </p:extLst>
  </p:cSld>
  <p:clrMap bg1="lt1" tx1="dk1" bg2="lt2" tx2="dk2" accent1="accent1" accent2="accent2" accent3="accent3" accent4="accent4" accent5="accent5" accent6="accent6" hlink="hlink" folHlink="folHlink"/>
  <p:sldLayoutIdLst>
    <p:sldLayoutId id="2147484588" r:id="rId1"/>
    <p:sldLayoutId id="2147484589" r:id="rId2"/>
    <p:sldLayoutId id="2147484590" r:id="rId3"/>
    <p:sldLayoutId id="2147484591" r:id="rId4"/>
    <p:sldLayoutId id="2147484592" r:id="rId5"/>
    <p:sldLayoutId id="2147484593" r:id="rId6"/>
    <p:sldLayoutId id="2147484594" r:id="rId7"/>
    <p:sldLayoutId id="2147484595" r:id="rId8"/>
    <p:sldLayoutId id="2147484596" r:id="rId9"/>
    <p:sldLayoutId id="2147484597" r:id="rId10"/>
    <p:sldLayoutId id="2147484598"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tiff"/><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Inhaltsplatzhalter 4" descr="Ein Bild, das Himmel, Mobiliar, Wand, Im Haus enthält.&#10;&#10;Automatisch generierte Beschreibung">
            <a:extLst>
              <a:ext uri="{FF2B5EF4-FFF2-40B4-BE49-F238E27FC236}">
                <a16:creationId xmlns:a16="http://schemas.microsoft.com/office/drawing/2014/main" id="{56479EB5-6FC3-4204-B163-5D33A7C1121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8333" t="11019" r="16386" b="3962"/>
          <a:stretch/>
        </p:blipFill>
        <p:spPr>
          <a:xfrm>
            <a:off x="335863" y="24477571"/>
            <a:ext cx="4629820" cy="4018708"/>
          </a:xfrm>
          <a:prstGeom prst="rect">
            <a:avLst/>
          </a:prstGeom>
        </p:spPr>
      </p:pic>
      <p:sp>
        <p:nvSpPr>
          <p:cNvPr id="91" name="TextBox 90"/>
          <p:cNvSpPr txBox="1"/>
          <p:nvPr/>
        </p:nvSpPr>
        <p:spPr>
          <a:xfrm>
            <a:off x="3398608" y="231303"/>
            <a:ext cx="14220000" cy="1620000"/>
          </a:xfrm>
          <a:prstGeom prst="rect">
            <a:avLst/>
          </a:prstGeom>
          <a:noFill/>
        </p:spPr>
        <p:txBody>
          <a:bodyPr wrap="square" lIns="0" rIns="0" rtlCol="0" anchor="ctr" anchorCtr="0">
            <a:noAutofit/>
          </a:bodyPr>
          <a:lstStyle/>
          <a:p>
            <a:pPr algn="ctr" defTabSz="2814939">
              <a:spcBef>
                <a:spcPct val="20000"/>
              </a:spcBef>
            </a:pPr>
            <a:r>
              <a:rPr lang="en-US" sz="4800" b="1" dirty="0">
                <a:solidFill>
                  <a:srgbClr val="3E444C"/>
                </a:solidFill>
                <a:latin typeface="Segoe UI Light" panose="020B0502040204020203" pitchFamily="34" charset="0"/>
                <a:cs typeface="Segoe UI Light" panose="020B0502040204020203" pitchFamily="34" charset="0"/>
              </a:rPr>
              <a:t>Development of a Granular Jamming Gripper </a:t>
            </a:r>
            <a:br>
              <a:rPr lang="en-US" sz="4800" b="1" dirty="0">
                <a:solidFill>
                  <a:srgbClr val="3E444C"/>
                </a:solidFill>
                <a:latin typeface="Segoe UI Light" panose="020B0502040204020203" pitchFamily="34" charset="0"/>
                <a:cs typeface="Segoe UI Light" panose="020B0502040204020203" pitchFamily="34" charset="0"/>
              </a:rPr>
            </a:br>
            <a:r>
              <a:rPr lang="en-US" sz="4800" b="1" dirty="0">
                <a:solidFill>
                  <a:srgbClr val="3E444C"/>
                </a:solidFill>
                <a:latin typeface="Segoe UI Light" panose="020B0502040204020203" pitchFamily="34" charset="0"/>
                <a:cs typeface="Segoe UI Light" panose="020B0502040204020203" pitchFamily="34" charset="0"/>
              </a:rPr>
              <a:t>for Ankle Rehabilitation</a:t>
            </a:r>
          </a:p>
        </p:txBody>
      </p:sp>
      <p:sp>
        <p:nvSpPr>
          <p:cNvPr id="281" name="矩形 21"/>
          <p:cNvSpPr/>
          <p:nvPr/>
        </p:nvSpPr>
        <p:spPr>
          <a:xfrm>
            <a:off x="5636995" y="2058880"/>
            <a:ext cx="10109634" cy="954107"/>
          </a:xfrm>
          <a:prstGeom prst="rect">
            <a:avLst/>
          </a:prstGeom>
          <a:noFill/>
        </p:spPr>
        <p:txBody>
          <a:bodyPr wrap="square">
            <a:spAutoFit/>
          </a:bodyPr>
          <a:lstStyle/>
          <a:p>
            <a:pPr lvl="0" algn="ctr"/>
            <a:r>
              <a:rPr lang="en-GB" sz="3200" b="1" dirty="0">
                <a:solidFill>
                  <a:srgbClr val="3E444C"/>
                </a:solidFill>
                <a:latin typeface="Segoe UI Light" panose="020B0502040204020203" pitchFamily="34" charset="0"/>
                <a:cs typeface="Segoe UI Light" panose="020B0502040204020203" pitchFamily="34" charset="0"/>
              </a:rPr>
              <a:t>N. Halouani, P. Shah Nazar</a:t>
            </a:r>
            <a:r>
              <a:rPr lang="en-GB" sz="3200" b="1" baseline="30000" dirty="0">
                <a:solidFill>
                  <a:srgbClr val="3E444C"/>
                </a:solidFill>
                <a:latin typeface="Segoe UI Light" panose="020B0502040204020203" pitchFamily="34" charset="0"/>
                <a:cs typeface="Segoe UI Light" panose="020B0502040204020203" pitchFamily="34" charset="0"/>
              </a:rPr>
              <a:t>1 </a:t>
            </a:r>
            <a:r>
              <a:rPr lang="en-GB" sz="2800" b="1" dirty="0">
                <a:solidFill>
                  <a:srgbClr val="3E444C"/>
                </a:solidFill>
                <a:latin typeface="Segoe UI Light" panose="020B0502040204020203" pitchFamily="34" charset="0"/>
                <a:cs typeface="Segoe UI Light" panose="020B0502040204020203" pitchFamily="34" charset="0"/>
              </a:rPr>
              <a:t>, P. P. Pott</a:t>
            </a:r>
            <a:r>
              <a:rPr lang="en-GB" sz="2800" b="1" baseline="30000" dirty="0">
                <a:solidFill>
                  <a:srgbClr val="3E444C"/>
                </a:solidFill>
                <a:latin typeface="Segoe UI Light" panose="020B0502040204020203" pitchFamily="34" charset="0"/>
                <a:cs typeface="Segoe UI Light" panose="020B0502040204020203" pitchFamily="34" charset="0"/>
              </a:rPr>
              <a:t>1</a:t>
            </a:r>
            <a:br>
              <a:rPr lang="en-GB" sz="3108" b="1" dirty="0">
                <a:solidFill>
                  <a:srgbClr val="3E444C"/>
                </a:solidFill>
                <a:latin typeface="Segoe UI Light" panose="020B0502040204020203" pitchFamily="34" charset="0"/>
                <a:cs typeface="Segoe UI Light" panose="020B0502040204020203" pitchFamily="34" charset="0"/>
              </a:rPr>
            </a:br>
            <a:r>
              <a:rPr lang="en-GB" sz="2400" baseline="30000" dirty="0">
                <a:solidFill>
                  <a:srgbClr val="3E444C"/>
                </a:solidFill>
                <a:latin typeface="Segoe UI Light" panose="020B0502040204020203" pitchFamily="34" charset="0"/>
                <a:cs typeface="Segoe UI Light" panose="020B0502040204020203" pitchFamily="34" charset="0"/>
              </a:rPr>
              <a:t>1</a:t>
            </a:r>
            <a:r>
              <a:rPr lang="en-GB" sz="2400" dirty="0">
                <a:solidFill>
                  <a:srgbClr val="3E444C"/>
                </a:solidFill>
                <a:latin typeface="Segoe UI Light" panose="020B0502040204020203" pitchFamily="34" charset="0"/>
                <a:cs typeface="Segoe UI Light" panose="020B0502040204020203" pitchFamily="34" charset="0"/>
              </a:rPr>
              <a:t>Institut für </a:t>
            </a:r>
            <a:r>
              <a:rPr lang="en-GB" sz="2400" dirty="0" err="1">
                <a:solidFill>
                  <a:srgbClr val="3E444C"/>
                </a:solidFill>
                <a:latin typeface="Segoe UI Light" panose="020B0502040204020203" pitchFamily="34" charset="0"/>
                <a:cs typeface="Segoe UI Light" panose="020B0502040204020203" pitchFamily="34" charset="0"/>
              </a:rPr>
              <a:t>Medizingerätetechnik</a:t>
            </a:r>
            <a:r>
              <a:rPr lang="en-GB" sz="2400" dirty="0">
                <a:solidFill>
                  <a:srgbClr val="3E444C"/>
                </a:solidFill>
                <a:latin typeface="Segoe UI Light" panose="020B0502040204020203" pitchFamily="34" charset="0"/>
                <a:cs typeface="Segoe UI Light" panose="020B0502040204020203" pitchFamily="34" charset="0"/>
              </a:rPr>
              <a:t>, Universität Stuttgart, Deutschland</a:t>
            </a:r>
          </a:p>
        </p:txBody>
      </p:sp>
      <p:sp>
        <p:nvSpPr>
          <p:cNvPr id="282" name="Text Placeholder 2"/>
          <p:cNvSpPr txBox="1">
            <a:spLocks/>
          </p:cNvSpPr>
          <p:nvPr/>
        </p:nvSpPr>
        <p:spPr>
          <a:xfrm>
            <a:off x="322344" y="12959383"/>
            <a:ext cx="10170835" cy="544829"/>
          </a:xfrm>
          <a:prstGeom prst="rect">
            <a:avLst/>
          </a:prstGeom>
        </p:spPr>
        <p:txBody>
          <a:bodyPr wrap="square" lIns="0">
            <a:spAutoFit/>
          </a:bodyPr>
          <a:lstStyle>
            <a:lvl1pPr marL="0" indent="0" algn="l" defTabSz="914400" rtl="0" eaLnBrk="1" latinLnBrk="0" hangingPunct="1">
              <a:lnSpc>
                <a:spcPct val="90000"/>
              </a:lnSpc>
              <a:spcBef>
                <a:spcPts val="1000"/>
              </a:spcBef>
              <a:buFont typeface="Arial" panose="020B0604020202020204" pitchFamily="34" charset="0"/>
              <a:buNone/>
              <a:defRPr sz="44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r>
              <a:rPr lang="en-NZ" sz="3200" dirty="0">
                <a:latin typeface="Segoe UI Light" panose="020B0502040204020203" pitchFamily="34" charset="0"/>
                <a:cs typeface="Segoe UI Light" panose="020B0502040204020203" pitchFamily="34" charset="0"/>
              </a:rPr>
              <a:t>System design</a:t>
            </a:r>
          </a:p>
        </p:txBody>
      </p:sp>
      <p:grpSp>
        <p:nvGrpSpPr>
          <p:cNvPr id="2" name="Group 1"/>
          <p:cNvGrpSpPr/>
          <p:nvPr/>
        </p:nvGrpSpPr>
        <p:grpSpPr>
          <a:xfrm>
            <a:off x="316408" y="3775698"/>
            <a:ext cx="10170835" cy="3657775"/>
            <a:chOff x="684265" y="5838484"/>
            <a:chExt cx="14400000" cy="4755343"/>
          </a:xfrm>
        </p:grpSpPr>
        <p:sp>
          <p:nvSpPr>
            <p:cNvPr id="98" name="TextBox 97"/>
            <p:cNvSpPr txBox="1"/>
            <p:nvPr/>
          </p:nvSpPr>
          <p:spPr>
            <a:xfrm>
              <a:off x="684265" y="5838484"/>
              <a:ext cx="14400000" cy="1082278"/>
            </a:xfrm>
            <a:prstGeom prst="rect">
              <a:avLst/>
            </a:prstGeom>
            <a:solidFill>
              <a:srgbClr val="D9D9D9"/>
            </a:solidFill>
          </p:spPr>
          <p:txBody>
            <a:bodyPr wrap="square" lIns="254271" rIns="254271" bIns="101708" rtlCol="0" anchor="ctr">
              <a:spAutoFit/>
            </a:bodyPr>
            <a:lstStyle/>
            <a:p>
              <a:pPr defTabSz="2814939">
                <a:spcBef>
                  <a:spcPct val="20000"/>
                </a:spcBef>
              </a:pPr>
              <a:r>
                <a:rPr lang="en-NZ" sz="4000" dirty="0">
                  <a:solidFill>
                    <a:srgbClr val="3E444C"/>
                  </a:solidFill>
                  <a:latin typeface="Segoe UI Light" panose="020B0502040204020203" pitchFamily="34" charset="0"/>
                  <a:cs typeface="Segoe UI Light" panose="020B0502040204020203" pitchFamily="34" charset="0"/>
                </a:rPr>
                <a:t>Background</a:t>
              </a:r>
            </a:p>
          </p:txBody>
        </p:sp>
        <p:sp>
          <p:nvSpPr>
            <p:cNvPr id="1139" name="TextBox 1138"/>
            <p:cNvSpPr txBox="1"/>
            <p:nvPr/>
          </p:nvSpPr>
          <p:spPr>
            <a:xfrm>
              <a:off x="684265" y="6898945"/>
              <a:ext cx="14400000" cy="3694882"/>
            </a:xfrm>
            <a:prstGeom prst="rect">
              <a:avLst/>
            </a:prstGeom>
            <a:solidFill>
              <a:srgbClr val="1BBBE9">
                <a:alpha val="5000"/>
              </a:srgbClr>
            </a:solidFill>
            <a:ln>
              <a:noFill/>
            </a:ln>
          </p:spPr>
          <p:txBody>
            <a:bodyPr wrap="square" lIns="254271" tIns="127135" rIns="254271" bIns="127135" rtlCol="0" anchor="t">
              <a:spAutoFit/>
            </a:bodyPr>
            <a:lstStyle/>
            <a:p>
              <a:pPr lvl="0" algn="just">
                <a:spcAft>
                  <a:spcPts val="800"/>
                </a:spcAft>
                <a:tabLst>
                  <a:tab pos="292100" algn="l"/>
                </a:tabLst>
              </a:pPr>
              <a:r>
                <a:rPr lang="en-GB" sz="2400" dirty="0">
                  <a:solidFill>
                    <a:srgbClr val="565656"/>
                  </a:solidFill>
                  <a:latin typeface="Segoe UI Light" panose="020B0502040204020203" pitchFamily="34" charset="0"/>
                  <a:cs typeface="Segoe UI Light" panose="020B0502040204020203" pitchFamily="34" charset="0"/>
                </a:rPr>
                <a:t>Ankle injuries and disabilities require extensive rehabilitation, which is aided by ankle rehabilitation robotics, for which the limited or absent involvement of therapists necessitates securely fixing the foot or leg to the device [1]. The commonly employed mechanisms for attaching the foot to the device, inspired from industrial robotic designs, include belts, straps, and elastic bands, which can constrain the leg or foot and become uncomfortable during prolonged rehabilitation periods [1,2].</a:t>
              </a:r>
            </a:p>
          </p:txBody>
        </p:sp>
      </p:grpSp>
      <p:sp>
        <p:nvSpPr>
          <p:cNvPr id="175" name="Text Box 24"/>
          <p:cNvSpPr txBox="1"/>
          <p:nvPr/>
        </p:nvSpPr>
        <p:spPr>
          <a:xfrm>
            <a:off x="322660" y="17918643"/>
            <a:ext cx="10170835" cy="369332"/>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p>
            <a:pPr algn="ctr">
              <a:spcAft>
                <a:spcPts val="706"/>
              </a:spcAft>
            </a:pPr>
            <a:r>
              <a:rPr lang="en-NZ" sz="2400" dirty="0">
                <a:latin typeface="Segoe UI Light" panose="020B0502040204020203" pitchFamily="34" charset="0"/>
                <a:ea typeface="Calibri" panose="020F0502020204030204" pitchFamily="34" charset="0"/>
                <a:cs typeface="Segoe UI Light" panose="020B0502040204020203" pitchFamily="34" charset="0"/>
              </a:rPr>
              <a:t>Figure 1: Design of the GJG</a:t>
            </a:r>
          </a:p>
        </p:txBody>
      </p:sp>
      <p:sp>
        <p:nvSpPr>
          <p:cNvPr id="178" name="Text Box 29"/>
          <p:cNvSpPr txBox="1"/>
          <p:nvPr/>
        </p:nvSpPr>
        <p:spPr>
          <a:xfrm>
            <a:off x="10907836" y="24677823"/>
            <a:ext cx="10170835" cy="369332"/>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p>
            <a:pPr algn="ctr">
              <a:spcAft>
                <a:spcPts val="706"/>
              </a:spcAft>
            </a:pPr>
            <a:r>
              <a:rPr lang="en-NZ" sz="2400" dirty="0">
                <a:latin typeface="Segoe UI Light" panose="020B0502040204020203" pitchFamily="34" charset="0"/>
                <a:ea typeface="Calibri" panose="020F0502020204030204" pitchFamily="34" charset="0"/>
                <a:cs typeface="Segoe UI Light" panose="020B0502040204020203" pitchFamily="34" charset="0"/>
              </a:rPr>
              <a:t>Figure 4: Assembled GJG connected to power source and vacuum pump</a:t>
            </a:r>
            <a:endParaRPr lang="en-NZ" sz="2400" b="1" dirty="0">
              <a:latin typeface="Segoe UI Light" panose="020B0502040204020203" pitchFamily="34" charset="0"/>
              <a:ea typeface="Calibri" panose="020F0502020204030204" pitchFamily="34" charset="0"/>
              <a:cs typeface="Segoe UI Light" panose="020B0502040204020203" pitchFamily="34" charset="0"/>
            </a:endParaRPr>
          </a:p>
        </p:txBody>
      </p:sp>
      <mc:AlternateContent xmlns:mc="http://schemas.openxmlformats.org/markup-compatibility/2006">
        <mc:Choice xmlns:a14="http://schemas.microsoft.com/office/drawing/2010/main" Requires="a14">
          <p:graphicFrame>
            <p:nvGraphicFramePr>
              <p:cNvPr id="8" name="Table 7"/>
              <p:cNvGraphicFramePr>
                <a:graphicFrameLocks noGrp="1"/>
              </p:cNvGraphicFramePr>
              <p:nvPr>
                <p:extLst>
                  <p:ext uri="{D42A27DB-BD31-4B8C-83A1-F6EECF244321}">
                    <p14:modId xmlns:p14="http://schemas.microsoft.com/office/powerpoint/2010/main" val="1530606683"/>
                  </p:ext>
                </p:extLst>
              </p:nvPr>
            </p:nvGraphicFramePr>
            <p:xfrm>
              <a:off x="11483900" y="15271467"/>
              <a:ext cx="9053052" cy="3279107"/>
            </p:xfrm>
            <a:graphic>
              <a:graphicData uri="http://schemas.openxmlformats.org/drawingml/2006/table">
                <a:tbl>
                  <a:tblPr firstRow="1" firstCol="1" bandRow="1">
                    <a:tableStyleId>{9D7B26C5-4107-4FEC-AEDC-1716B250A1EF}</a:tableStyleId>
                  </a:tblPr>
                  <a:tblGrid>
                    <a:gridCol w="1508842">
                      <a:extLst>
                        <a:ext uri="{9D8B030D-6E8A-4147-A177-3AD203B41FA5}">
                          <a16:colId xmlns:a16="http://schemas.microsoft.com/office/drawing/2014/main" val="20000"/>
                        </a:ext>
                      </a:extLst>
                    </a:gridCol>
                    <a:gridCol w="1508842">
                      <a:extLst>
                        <a:ext uri="{9D8B030D-6E8A-4147-A177-3AD203B41FA5}">
                          <a16:colId xmlns:a16="http://schemas.microsoft.com/office/drawing/2014/main" val="20001"/>
                        </a:ext>
                      </a:extLst>
                    </a:gridCol>
                    <a:gridCol w="1508842">
                      <a:extLst>
                        <a:ext uri="{9D8B030D-6E8A-4147-A177-3AD203B41FA5}">
                          <a16:colId xmlns:a16="http://schemas.microsoft.com/office/drawing/2014/main" val="3227773833"/>
                        </a:ext>
                      </a:extLst>
                    </a:gridCol>
                    <a:gridCol w="1508842">
                      <a:extLst>
                        <a:ext uri="{9D8B030D-6E8A-4147-A177-3AD203B41FA5}">
                          <a16:colId xmlns:a16="http://schemas.microsoft.com/office/drawing/2014/main" val="3684389883"/>
                        </a:ext>
                      </a:extLst>
                    </a:gridCol>
                    <a:gridCol w="1508842">
                      <a:extLst>
                        <a:ext uri="{9D8B030D-6E8A-4147-A177-3AD203B41FA5}">
                          <a16:colId xmlns:a16="http://schemas.microsoft.com/office/drawing/2014/main" val="3852079237"/>
                        </a:ext>
                      </a:extLst>
                    </a:gridCol>
                    <a:gridCol w="1508842">
                      <a:extLst>
                        <a:ext uri="{9D8B030D-6E8A-4147-A177-3AD203B41FA5}">
                          <a16:colId xmlns:a16="http://schemas.microsoft.com/office/drawing/2014/main" val="1726852189"/>
                        </a:ext>
                      </a:extLst>
                    </a:gridCol>
                  </a:tblGrid>
                  <a:tr h="574466">
                    <a:tc gridSpan="2">
                      <a:txBody>
                        <a:bodyPr/>
                        <a:lstStyle/>
                        <a:p>
                          <a:pPr algn="ctr">
                            <a:lnSpc>
                              <a:spcPct val="100000"/>
                            </a:lnSpc>
                            <a:spcAft>
                              <a:spcPts val="0"/>
                            </a:spcAft>
                          </a:pPr>
                          <a:r>
                            <a:rPr lang="en-AU" sz="2000" dirty="0">
                              <a:effectLst/>
                              <a:latin typeface="Segoe UI Light" panose="020B0502040204020203" pitchFamily="34" charset="0"/>
                              <a:cs typeface="Segoe UI Light" panose="020B0502040204020203" pitchFamily="34" charset="0"/>
                            </a:rPr>
                            <a:t>Filling percentage</a:t>
                          </a:r>
                          <a:endParaRPr lang="en-NZ" sz="2000" b="1" dirty="0">
                            <a:effectLst/>
                            <a:latin typeface="Segoe UI Light" panose="020B0502040204020203" pitchFamily="34" charset="0"/>
                            <a:ea typeface="Calibri" panose="020F0502020204030204" pitchFamily="34" charset="0"/>
                            <a:cs typeface="Segoe UI Light" panose="020B0502040204020203" pitchFamily="34" charset="0"/>
                          </a:endParaRPr>
                        </a:p>
                      </a:txBody>
                      <a:tcPr marL="48439" marR="48439" marT="0" marB="0">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tcPr>
                    </a:tc>
                    <a:tc hMerge="1">
                      <a:txBody>
                        <a:bodyPr/>
                        <a:lstStyle/>
                        <a:p>
                          <a:pPr algn="ctr">
                            <a:lnSpc>
                              <a:spcPct val="100000"/>
                            </a:lnSpc>
                            <a:spcAft>
                              <a:spcPts val="0"/>
                            </a:spcAft>
                          </a:pPr>
                          <a:endParaRPr lang="en-NZ" sz="2000" b="1" dirty="0">
                            <a:effectLst/>
                            <a:latin typeface="Segoe UI Light" panose="020B0502040204020203" pitchFamily="34" charset="0"/>
                            <a:ea typeface="Calibri" panose="020F0502020204030204" pitchFamily="34" charset="0"/>
                            <a:cs typeface="Segoe UI Light" panose="020B0502040204020203" pitchFamily="34" charset="0"/>
                          </a:endParaRPr>
                        </a:p>
                      </a:txBody>
                      <a:tcPr marL="48439" marR="48439" marT="0" marB="0" anchor="ct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tcPr>
                    </a:tc>
                    <a:tc gridSpan="2">
                      <a:txBody>
                        <a:bodyPr/>
                        <a:lstStyle/>
                        <a:p>
                          <a:pPr algn="ctr">
                            <a:lnSpc>
                              <a:spcPct val="100000"/>
                            </a:lnSpc>
                            <a:spcAft>
                              <a:spcPts val="0"/>
                            </a:spcAft>
                          </a:pPr>
                          <a:r>
                            <a:rPr lang="en-NZ" sz="2000" b="1" dirty="0">
                              <a:effectLst/>
                              <a:latin typeface="Segoe UI Light" panose="020B0502040204020203" pitchFamily="34" charset="0"/>
                              <a:cs typeface="Segoe UI Light" panose="020B0502040204020203" pitchFamily="34" charset="0"/>
                            </a:rPr>
                            <a:t>Granule type</a:t>
                          </a:r>
                          <a:endParaRPr lang="en-NZ" sz="2000" b="1" dirty="0">
                            <a:effectLst/>
                            <a:latin typeface="Segoe UI Light" panose="020B0502040204020203" pitchFamily="34" charset="0"/>
                            <a:ea typeface="Calibri" panose="020F0502020204030204" pitchFamily="34" charset="0"/>
                            <a:cs typeface="Segoe UI Light" panose="020B0502040204020203" pitchFamily="34" charset="0"/>
                          </a:endParaRPr>
                        </a:p>
                      </a:txBody>
                      <a:tcPr marL="48439" marR="48439" marT="0" marB="0">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tcPr>
                    </a:tc>
                    <a:tc hMerge="1">
                      <a:txBody>
                        <a:bodyPr/>
                        <a:lstStyle/>
                        <a:p>
                          <a:pPr algn="ctr">
                            <a:lnSpc>
                              <a:spcPct val="100000"/>
                            </a:lnSpc>
                            <a:spcAft>
                              <a:spcPts val="0"/>
                            </a:spcAft>
                          </a:pPr>
                          <a:endParaRPr lang="en-NZ" sz="2000" b="1" dirty="0">
                            <a:effectLst/>
                            <a:latin typeface="Segoe UI Light" panose="020B0502040204020203" pitchFamily="34" charset="0"/>
                            <a:ea typeface="Calibri" panose="020F0502020204030204" pitchFamily="34" charset="0"/>
                            <a:cs typeface="Segoe UI Light" panose="020B0502040204020203" pitchFamily="34" charset="0"/>
                          </a:endParaRPr>
                        </a:p>
                      </a:txBody>
                      <a:tcPr marL="48439" marR="48439" marT="0" marB="0" anchor="ct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tcPr>
                    </a:tc>
                    <a:tc gridSpan="2">
                      <a:txBody>
                        <a:bodyPr/>
                        <a:lstStyle/>
                        <a:p>
                          <a:pPr algn="ctr">
                            <a:lnSpc>
                              <a:spcPct val="100000"/>
                            </a:lnSpc>
                            <a:spcAft>
                              <a:spcPts val="0"/>
                            </a:spcAft>
                          </a:pPr>
                          <a:r>
                            <a:rPr lang="en-NZ" sz="2000" b="1" dirty="0">
                              <a:effectLst/>
                              <a:latin typeface="Segoe UI Light" panose="020B0502040204020203" pitchFamily="34" charset="0"/>
                              <a:ea typeface="Calibri" panose="020F0502020204030204" pitchFamily="34" charset="0"/>
                              <a:cs typeface="Segoe UI Light" panose="020B0502040204020203" pitchFamily="34" charset="0"/>
                            </a:rPr>
                            <a:t>Membrane thickness</a:t>
                          </a:r>
                        </a:p>
                      </a:txBody>
                      <a:tcPr marL="48439" marR="48439" marT="0" marB="0">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tcPr>
                    </a:tc>
                    <a:tc hMerge="1">
                      <a:txBody>
                        <a:bodyPr/>
                        <a:lstStyle/>
                        <a:p>
                          <a:pPr algn="ctr">
                            <a:lnSpc>
                              <a:spcPct val="100000"/>
                            </a:lnSpc>
                            <a:spcAft>
                              <a:spcPts val="0"/>
                            </a:spcAft>
                          </a:pPr>
                          <a:endParaRPr lang="en-NZ" sz="2000" b="1" dirty="0">
                            <a:effectLst/>
                            <a:latin typeface="Segoe UI Light" panose="020B0502040204020203" pitchFamily="34" charset="0"/>
                            <a:ea typeface="Calibri" panose="020F0502020204030204" pitchFamily="34" charset="0"/>
                            <a:cs typeface="Segoe UI Light" panose="020B0502040204020203" pitchFamily="34" charset="0"/>
                          </a:endParaRPr>
                        </a:p>
                      </a:txBody>
                      <a:tcPr marL="48439" marR="48439" marT="0" marB="0" anchor="ct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tcPr>
                    </a:tc>
                    <a:extLst>
                      <a:ext uri="{0D108BD9-81ED-4DB2-BD59-A6C34878D82A}">
                        <a16:rowId xmlns:a16="http://schemas.microsoft.com/office/drawing/2014/main" val="10000"/>
                      </a:ext>
                    </a:extLst>
                  </a:tr>
                  <a:tr h="506774">
                    <a:tc>
                      <a:txBody>
                        <a:bodyPr/>
                        <a:lstStyle/>
                        <a:p>
                          <a:pPr marL="0" algn="ctr" defTabSz="2138324" rtl="0" eaLnBrk="1" latinLnBrk="0" hangingPunct="1">
                            <a:lnSpc>
                              <a:spcPct val="100000"/>
                            </a:lnSpc>
                            <a:spcAft>
                              <a:spcPts val="0"/>
                            </a:spcAft>
                          </a:pPr>
                          <a:r>
                            <a:rPr lang="en-US" sz="2000" b="0" kern="1200" dirty="0">
                              <a:solidFill>
                                <a:schemeClr val="tx1"/>
                              </a:solidFill>
                              <a:effectLst/>
                              <a:latin typeface="Segoe UI Light" panose="020B0502040204020203" pitchFamily="34" charset="0"/>
                              <a:ea typeface="+mn-ea"/>
                              <a:cs typeface="Segoe UI Light" panose="020B0502040204020203" pitchFamily="34" charset="0"/>
                            </a:rPr>
                            <a:t>Percentage (%)</a:t>
                          </a:r>
                          <a:endParaRPr lang="en-GB" sz="2000" b="0" kern="1200" dirty="0">
                            <a:solidFill>
                              <a:schemeClr val="tx1"/>
                            </a:solidFill>
                            <a:effectLst/>
                            <a:latin typeface="Segoe UI Light" panose="020B0502040204020203" pitchFamily="34" charset="0"/>
                            <a:ea typeface="+mn-ea"/>
                            <a:cs typeface="Segoe UI Light" panose="020B0502040204020203" pitchFamily="34" charset="0"/>
                          </a:endParaRPr>
                        </a:p>
                      </a:txBody>
                      <a:tcPr marL="0" marR="64770" marT="50165" marB="17780">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algn="ctr" defTabSz="2138324" rtl="0" eaLnBrk="1" latinLnBrk="0" hangingPunct="1">
                            <a:lnSpc>
                              <a:spcPct val="100000"/>
                            </a:lnSpc>
                            <a:spcAft>
                              <a:spcPts val="0"/>
                            </a:spcAft>
                          </a:pPr>
                          <a14:m>
                            <m:oMathPara xmlns:m="http://schemas.openxmlformats.org/officeDocument/2006/math">
                              <m:oMathParaPr>
                                <m:jc m:val="centerGroup"/>
                              </m:oMathParaPr>
                              <m:oMath xmlns:m="http://schemas.openxmlformats.org/officeDocument/2006/math">
                                <m:sSub>
                                  <m:sSubPr>
                                    <m:ctrlPr>
                                      <a:rPr lang="en-US" sz="2000" b="0" i="1" kern="1200" dirty="0" smtClean="0">
                                        <a:solidFill>
                                          <a:schemeClr val="tx1"/>
                                        </a:solidFill>
                                        <a:effectLst/>
                                        <a:latin typeface="Cambria Math" panose="02040503050406030204" pitchFamily="18" charset="0"/>
                                        <a:ea typeface="+mn-ea"/>
                                        <a:cs typeface="Segoe UI Light" panose="020B0502040204020203" pitchFamily="34" charset="0"/>
                                      </a:rPr>
                                    </m:ctrlPr>
                                  </m:sSubPr>
                                  <m:e>
                                    <m:r>
                                      <a:rPr lang="en-US" sz="2000" b="0" i="1" kern="1200" dirty="0" smtClean="0">
                                        <a:solidFill>
                                          <a:schemeClr val="tx1"/>
                                        </a:solidFill>
                                        <a:effectLst/>
                                        <a:latin typeface="Cambria Math" panose="02040503050406030204" pitchFamily="18" charset="0"/>
                                        <a:ea typeface="+mn-ea"/>
                                        <a:cs typeface="Segoe UI Light" panose="020B0502040204020203" pitchFamily="34" charset="0"/>
                                      </a:rPr>
                                      <m:t>𝐹</m:t>
                                    </m:r>
                                  </m:e>
                                  <m:sub>
                                    <m:r>
                                      <a:rPr lang="de-DE" sz="2000" b="0" i="1" kern="1200" dirty="0" smtClean="0">
                                        <a:solidFill>
                                          <a:schemeClr val="tx1"/>
                                        </a:solidFill>
                                        <a:effectLst/>
                                        <a:latin typeface="Cambria Math" panose="02040503050406030204" pitchFamily="18" charset="0"/>
                                        <a:ea typeface="+mn-ea"/>
                                        <a:cs typeface="Segoe UI Light" panose="020B0502040204020203" pitchFamily="34" charset="0"/>
                                      </a:rPr>
                                      <m:t>𝐺</m:t>
                                    </m:r>
                                  </m:sub>
                                </m:sSub>
                                <m:r>
                                  <a:rPr lang="en-US" sz="2000" b="0" i="1" kern="1200" dirty="0" smtClean="0">
                                    <a:solidFill>
                                      <a:schemeClr val="tx1"/>
                                    </a:solidFill>
                                    <a:effectLst/>
                                    <a:latin typeface="Cambria Math" panose="02040503050406030204" pitchFamily="18" charset="0"/>
                                    <a:ea typeface="+mn-ea"/>
                                    <a:cs typeface="Segoe UI Light" panose="020B0502040204020203" pitchFamily="34" charset="0"/>
                                  </a:rPr>
                                  <m:t> (</m:t>
                                </m:r>
                                <m:r>
                                  <a:rPr lang="en-US" sz="2000" b="0" i="1" kern="1200" dirty="0" smtClean="0">
                                    <a:solidFill>
                                      <a:schemeClr val="tx1"/>
                                    </a:solidFill>
                                    <a:effectLst/>
                                    <a:latin typeface="Cambria Math" panose="02040503050406030204" pitchFamily="18" charset="0"/>
                                    <a:ea typeface="+mn-ea"/>
                                    <a:cs typeface="Segoe UI Light" panose="020B0502040204020203" pitchFamily="34" charset="0"/>
                                  </a:rPr>
                                  <m:t>𝑁</m:t>
                                </m:r>
                                <m:r>
                                  <a:rPr lang="en-US" sz="2000" b="0" i="1" kern="1200" dirty="0" smtClean="0">
                                    <a:solidFill>
                                      <a:schemeClr val="tx1"/>
                                    </a:solidFill>
                                    <a:effectLst/>
                                    <a:latin typeface="Cambria Math" panose="02040503050406030204" pitchFamily="18" charset="0"/>
                                    <a:ea typeface="+mn-ea"/>
                                    <a:cs typeface="Segoe UI Light" panose="020B0502040204020203" pitchFamily="34" charset="0"/>
                                  </a:rPr>
                                  <m:t>)</m:t>
                                </m:r>
                              </m:oMath>
                            </m:oMathPara>
                          </a14:m>
                          <a:endParaRPr lang="en-GB" sz="2000" b="0" kern="1200" dirty="0">
                            <a:solidFill>
                              <a:schemeClr val="tx1"/>
                            </a:solidFill>
                            <a:effectLst/>
                            <a:latin typeface="Segoe UI Light" panose="020B0502040204020203" pitchFamily="34" charset="0"/>
                            <a:ea typeface="+mn-ea"/>
                            <a:cs typeface="Segoe UI Light" panose="020B0502040204020203" pitchFamily="34" charset="0"/>
                          </a:endParaRPr>
                        </a:p>
                      </a:txBody>
                      <a:tcPr marL="0" marR="64770" marT="50165" marB="17780">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algn="ctr" defTabSz="2138324" rtl="0" eaLnBrk="1" latinLnBrk="0" hangingPunct="1">
                            <a:lnSpc>
                              <a:spcPct val="100000"/>
                            </a:lnSpc>
                            <a:spcAft>
                              <a:spcPts val="0"/>
                            </a:spcAft>
                          </a:pPr>
                          <a:r>
                            <a:rPr lang="en-US" sz="2000" b="0" kern="1200" dirty="0">
                              <a:solidFill>
                                <a:schemeClr val="tx1"/>
                              </a:solidFill>
                              <a:effectLst/>
                              <a:latin typeface="Segoe UI Light" panose="020B0502040204020203" pitchFamily="34" charset="0"/>
                              <a:ea typeface="+mn-ea"/>
                              <a:cs typeface="Segoe UI Light" panose="020B0502040204020203" pitchFamily="34" charset="0"/>
                            </a:rPr>
                            <a:t>Type</a:t>
                          </a:r>
                          <a:endParaRPr lang="en-GB" sz="2000" b="0" kern="1200" dirty="0">
                            <a:solidFill>
                              <a:schemeClr val="tx1"/>
                            </a:solidFill>
                            <a:effectLst/>
                            <a:latin typeface="Segoe UI Light" panose="020B0502040204020203" pitchFamily="34" charset="0"/>
                            <a:ea typeface="+mn-ea"/>
                            <a:cs typeface="Segoe UI Light" panose="020B0502040204020203" pitchFamily="34" charset="0"/>
                          </a:endParaRPr>
                        </a:p>
                      </a:txBody>
                      <a:tcPr marL="0" marR="0" marT="50165" marB="17780">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algn="ctr" defTabSz="2138324" rtl="0" eaLnBrk="1" latinLnBrk="0" hangingPunct="1">
                            <a:lnSpc>
                              <a:spcPct val="100000"/>
                            </a:lnSpc>
                            <a:spcAft>
                              <a:spcPts val="0"/>
                            </a:spcAft>
                          </a:pPr>
                          <a14:m>
                            <m:oMathPara xmlns:m="http://schemas.openxmlformats.org/officeDocument/2006/math">
                              <m:oMathParaPr>
                                <m:jc m:val="centerGroup"/>
                              </m:oMathParaPr>
                              <m:oMath xmlns:m="http://schemas.openxmlformats.org/officeDocument/2006/math">
                                <m:sSub>
                                  <m:sSubPr>
                                    <m:ctrlPr>
                                      <a:rPr lang="en-US" sz="2000" b="0" i="1" kern="1200" dirty="0" smtClean="0">
                                        <a:solidFill>
                                          <a:schemeClr val="tx1"/>
                                        </a:solidFill>
                                        <a:effectLst/>
                                        <a:latin typeface="Cambria Math" panose="02040503050406030204" pitchFamily="18" charset="0"/>
                                        <a:ea typeface="+mn-ea"/>
                                        <a:cs typeface="Segoe UI Light" panose="020B0502040204020203" pitchFamily="34" charset="0"/>
                                      </a:rPr>
                                    </m:ctrlPr>
                                  </m:sSubPr>
                                  <m:e>
                                    <m:r>
                                      <a:rPr lang="en-US" sz="2000" b="0" i="1" kern="1200" dirty="0" smtClean="0">
                                        <a:solidFill>
                                          <a:schemeClr val="tx1"/>
                                        </a:solidFill>
                                        <a:effectLst/>
                                        <a:latin typeface="Cambria Math" panose="02040503050406030204" pitchFamily="18" charset="0"/>
                                        <a:ea typeface="+mn-ea"/>
                                        <a:cs typeface="Segoe UI Light" panose="020B0502040204020203" pitchFamily="34" charset="0"/>
                                      </a:rPr>
                                      <m:t>𝐹</m:t>
                                    </m:r>
                                  </m:e>
                                  <m:sub>
                                    <m:r>
                                      <a:rPr lang="de-DE" sz="2000" b="0" i="1" kern="1200" dirty="0" smtClean="0">
                                        <a:solidFill>
                                          <a:schemeClr val="tx1"/>
                                        </a:solidFill>
                                        <a:effectLst/>
                                        <a:latin typeface="Cambria Math" panose="02040503050406030204" pitchFamily="18" charset="0"/>
                                        <a:ea typeface="+mn-ea"/>
                                        <a:cs typeface="Segoe UI Light" panose="020B0502040204020203" pitchFamily="34" charset="0"/>
                                      </a:rPr>
                                      <m:t>𝐺</m:t>
                                    </m:r>
                                  </m:sub>
                                </m:sSub>
                                <m:r>
                                  <a:rPr lang="en-US" sz="2000" b="0" i="1" kern="1200" dirty="0" smtClean="0">
                                    <a:solidFill>
                                      <a:schemeClr val="tx1"/>
                                    </a:solidFill>
                                    <a:effectLst/>
                                    <a:latin typeface="Cambria Math" panose="02040503050406030204" pitchFamily="18" charset="0"/>
                                    <a:ea typeface="+mn-ea"/>
                                    <a:cs typeface="Segoe UI Light" panose="020B0502040204020203" pitchFamily="34" charset="0"/>
                                  </a:rPr>
                                  <m:t> (</m:t>
                                </m:r>
                                <m:r>
                                  <a:rPr lang="en-US" sz="2000" b="0" i="1" kern="1200" dirty="0" smtClean="0">
                                    <a:solidFill>
                                      <a:schemeClr val="tx1"/>
                                    </a:solidFill>
                                    <a:effectLst/>
                                    <a:latin typeface="Cambria Math" panose="02040503050406030204" pitchFamily="18" charset="0"/>
                                    <a:ea typeface="+mn-ea"/>
                                    <a:cs typeface="Segoe UI Light" panose="020B0502040204020203" pitchFamily="34" charset="0"/>
                                  </a:rPr>
                                  <m:t>𝑁</m:t>
                                </m:r>
                                <m:r>
                                  <a:rPr lang="en-US" sz="2000" b="0" i="1" kern="1200" dirty="0" smtClean="0">
                                    <a:solidFill>
                                      <a:schemeClr val="tx1"/>
                                    </a:solidFill>
                                    <a:effectLst/>
                                    <a:latin typeface="Cambria Math" panose="02040503050406030204" pitchFamily="18" charset="0"/>
                                    <a:ea typeface="+mn-ea"/>
                                    <a:cs typeface="Segoe UI Light" panose="020B0502040204020203" pitchFamily="34" charset="0"/>
                                  </a:rPr>
                                  <m:t>)</m:t>
                                </m:r>
                              </m:oMath>
                            </m:oMathPara>
                          </a14:m>
                          <a:endParaRPr lang="en-GB" sz="2000" b="0" kern="1200" dirty="0">
                            <a:solidFill>
                              <a:schemeClr val="tx1"/>
                            </a:solidFill>
                            <a:effectLst/>
                            <a:latin typeface="Segoe UI Light" panose="020B0502040204020203" pitchFamily="34" charset="0"/>
                            <a:ea typeface="+mn-ea"/>
                            <a:cs typeface="Segoe UI Light" panose="020B0502040204020203" pitchFamily="34" charset="0"/>
                          </a:endParaRPr>
                        </a:p>
                      </a:txBody>
                      <a:tcPr marL="0" marR="64770" marT="50165" marB="50165">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algn="ctr" defTabSz="2138324" rtl="0" eaLnBrk="1" latinLnBrk="0" hangingPunct="1">
                            <a:lnSpc>
                              <a:spcPct val="100000"/>
                            </a:lnSpc>
                            <a:spcAft>
                              <a:spcPts val="0"/>
                            </a:spcAft>
                          </a:pPr>
                          <a:r>
                            <a:rPr lang="en-US" sz="2000" b="0" kern="1200" dirty="0">
                              <a:solidFill>
                                <a:schemeClr val="tx1"/>
                              </a:solidFill>
                              <a:effectLst/>
                              <a:latin typeface="Segoe UI Light" panose="020B0502040204020203" pitchFamily="34" charset="0"/>
                              <a:ea typeface="+mn-ea"/>
                              <a:cs typeface="Segoe UI Light" panose="020B0502040204020203" pitchFamily="34" charset="0"/>
                            </a:rPr>
                            <a:t>Thickness</a:t>
                          </a:r>
                          <a:endParaRPr lang="en-GB" sz="2000" b="0" kern="1200" dirty="0">
                            <a:solidFill>
                              <a:schemeClr val="tx1"/>
                            </a:solidFill>
                            <a:effectLst/>
                            <a:latin typeface="Segoe UI Light" panose="020B0502040204020203" pitchFamily="34" charset="0"/>
                            <a:ea typeface="+mn-ea"/>
                            <a:cs typeface="Segoe UI Light" panose="020B0502040204020203" pitchFamily="34" charset="0"/>
                          </a:endParaRPr>
                        </a:p>
                      </a:txBody>
                      <a:tcPr marL="0" marR="64770" marT="50165" marB="50165">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algn="ctr" defTabSz="2138324" rtl="0" eaLnBrk="1" latinLnBrk="0" hangingPunct="1">
                            <a:lnSpc>
                              <a:spcPct val="100000"/>
                            </a:lnSpc>
                            <a:spcAft>
                              <a:spcPts val="0"/>
                            </a:spcAft>
                          </a:pPr>
                          <a14:m>
                            <m:oMathPara xmlns:m="http://schemas.openxmlformats.org/officeDocument/2006/math">
                              <m:oMathParaPr>
                                <m:jc m:val="centerGroup"/>
                              </m:oMathParaPr>
                              <m:oMath xmlns:m="http://schemas.openxmlformats.org/officeDocument/2006/math">
                                <m:sSub>
                                  <m:sSubPr>
                                    <m:ctrlPr>
                                      <a:rPr lang="en-US" sz="2000" b="0" i="1" kern="1200" dirty="0" smtClean="0">
                                        <a:solidFill>
                                          <a:schemeClr val="tx1"/>
                                        </a:solidFill>
                                        <a:effectLst/>
                                        <a:latin typeface="Cambria Math" panose="02040503050406030204" pitchFamily="18" charset="0"/>
                                        <a:ea typeface="+mn-ea"/>
                                        <a:cs typeface="Segoe UI Light" panose="020B0502040204020203" pitchFamily="34" charset="0"/>
                                      </a:rPr>
                                    </m:ctrlPr>
                                  </m:sSubPr>
                                  <m:e>
                                    <m:r>
                                      <a:rPr lang="en-US" sz="2000" b="0" i="1" kern="1200" dirty="0" smtClean="0">
                                        <a:solidFill>
                                          <a:schemeClr val="tx1"/>
                                        </a:solidFill>
                                        <a:effectLst/>
                                        <a:latin typeface="Cambria Math" panose="02040503050406030204" pitchFamily="18" charset="0"/>
                                        <a:ea typeface="+mn-ea"/>
                                        <a:cs typeface="Segoe UI Light" panose="020B0502040204020203" pitchFamily="34" charset="0"/>
                                      </a:rPr>
                                      <m:t>𝐹</m:t>
                                    </m:r>
                                  </m:e>
                                  <m:sub>
                                    <m:r>
                                      <a:rPr lang="de-DE" sz="2000" b="0" i="1" kern="1200" dirty="0" smtClean="0">
                                        <a:solidFill>
                                          <a:schemeClr val="tx1"/>
                                        </a:solidFill>
                                        <a:effectLst/>
                                        <a:latin typeface="Cambria Math" panose="02040503050406030204" pitchFamily="18" charset="0"/>
                                        <a:ea typeface="+mn-ea"/>
                                        <a:cs typeface="Segoe UI Light" panose="020B0502040204020203" pitchFamily="34" charset="0"/>
                                      </a:rPr>
                                      <m:t>𝐺</m:t>
                                    </m:r>
                                  </m:sub>
                                </m:sSub>
                                <m:r>
                                  <a:rPr lang="en-US" sz="2000" b="0" i="1" kern="1200" dirty="0" smtClean="0">
                                    <a:solidFill>
                                      <a:schemeClr val="tx1"/>
                                    </a:solidFill>
                                    <a:effectLst/>
                                    <a:latin typeface="Cambria Math" panose="02040503050406030204" pitchFamily="18" charset="0"/>
                                    <a:ea typeface="+mn-ea"/>
                                    <a:cs typeface="Segoe UI Light" panose="020B0502040204020203" pitchFamily="34" charset="0"/>
                                  </a:rPr>
                                  <m:t> (</m:t>
                                </m:r>
                                <m:r>
                                  <a:rPr lang="en-US" sz="2000" b="0" i="1" kern="1200" dirty="0" smtClean="0">
                                    <a:solidFill>
                                      <a:schemeClr val="tx1"/>
                                    </a:solidFill>
                                    <a:effectLst/>
                                    <a:latin typeface="Cambria Math" panose="02040503050406030204" pitchFamily="18" charset="0"/>
                                    <a:ea typeface="+mn-ea"/>
                                    <a:cs typeface="Segoe UI Light" panose="020B0502040204020203" pitchFamily="34" charset="0"/>
                                  </a:rPr>
                                  <m:t>𝑁</m:t>
                                </m:r>
                                <m:r>
                                  <a:rPr lang="en-US" sz="2000" b="0" i="1" kern="1200" dirty="0" smtClean="0">
                                    <a:solidFill>
                                      <a:schemeClr val="tx1"/>
                                    </a:solidFill>
                                    <a:effectLst/>
                                    <a:latin typeface="Cambria Math" panose="02040503050406030204" pitchFamily="18" charset="0"/>
                                    <a:ea typeface="+mn-ea"/>
                                    <a:cs typeface="Segoe UI Light" panose="020B0502040204020203" pitchFamily="34" charset="0"/>
                                  </a:rPr>
                                  <m:t>)</m:t>
                                </m:r>
                              </m:oMath>
                            </m:oMathPara>
                          </a14:m>
                          <a:endParaRPr lang="en-GB" sz="2000" b="0" kern="1200" dirty="0">
                            <a:solidFill>
                              <a:schemeClr val="tx1"/>
                            </a:solidFill>
                            <a:effectLst/>
                            <a:latin typeface="Segoe UI Light" panose="020B0502040204020203" pitchFamily="34" charset="0"/>
                            <a:ea typeface="+mn-ea"/>
                            <a:cs typeface="Segoe UI Light" panose="020B0502040204020203" pitchFamily="34" charset="0"/>
                          </a:endParaRPr>
                        </a:p>
                      </a:txBody>
                      <a:tcPr marL="0" marR="64770" marT="50165" marB="50165">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06774">
                    <a:tc>
                      <a:txBody>
                        <a:bodyPr/>
                        <a:lstStyle/>
                        <a:p>
                          <a:pPr marL="0" algn="ctr" defTabSz="2138324" rtl="0" eaLnBrk="1" latinLnBrk="0" hangingPunct="1">
                            <a:lnSpc>
                              <a:spcPct val="100000"/>
                            </a:lnSpc>
                            <a:spcAft>
                              <a:spcPts val="0"/>
                            </a:spcAft>
                          </a:pPr>
                          <a:r>
                            <a:rPr lang="en-GB" sz="2000" b="0" kern="1200">
                              <a:solidFill>
                                <a:schemeClr val="tx1"/>
                              </a:solidFill>
                              <a:effectLst/>
                              <a:latin typeface="Segoe UI Light" panose="020B0502040204020203" pitchFamily="34" charset="0"/>
                              <a:ea typeface="+mn-ea"/>
                              <a:cs typeface="Segoe UI Light" panose="020B0502040204020203" pitchFamily="34" charset="0"/>
                            </a:rPr>
                            <a:t>50</a:t>
                          </a:r>
                        </a:p>
                      </a:txBody>
                      <a:tcPr marL="0" marR="64770" marT="17780" marB="17780">
                        <a:lnT w="38100" cap="flat" cmpd="sng" algn="ctr">
                          <a:solidFill>
                            <a:schemeClr val="tx1"/>
                          </a:solidFill>
                          <a:prstDash val="solid"/>
                          <a:round/>
                          <a:headEnd type="none" w="med" len="med"/>
                          <a:tailEnd type="none" w="med" len="med"/>
                        </a:lnT>
                      </a:tcPr>
                    </a:tc>
                    <a:tc>
                      <a:txBody>
                        <a:bodyPr/>
                        <a:lstStyle/>
                        <a:p>
                          <a:pPr marL="0" algn="ctr" defTabSz="2138324" rtl="0" eaLnBrk="1" latinLnBrk="0" hangingPunct="1">
                            <a:lnSpc>
                              <a:spcPct val="100000"/>
                            </a:lnSpc>
                            <a:spcAft>
                              <a:spcPts val="0"/>
                            </a:spcAft>
                          </a:pPr>
                          <a:r>
                            <a:rPr lang="en-GB" sz="2000" b="0" kern="1200" dirty="0">
                              <a:solidFill>
                                <a:schemeClr val="tx1"/>
                              </a:solidFill>
                              <a:effectLst/>
                              <a:latin typeface="Segoe UI Light" panose="020B0502040204020203" pitchFamily="34" charset="0"/>
                              <a:ea typeface="+mn-ea"/>
                              <a:cs typeface="Segoe UI Light" panose="020B0502040204020203" pitchFamily="34" charset="0"/>
                            </a:rPr>
                            <a:t>65</a:t>
                          </a:r>
                        </a:p>
                      </a:txBody>
                      <a:tcPr marL="0" marR="64770" marT="17780" marB="17780">
                        <a:lnT w="38100" cap="flat" cmpd="sng" algn="ctr">
                          <a:solidFill>
                            <a:schemeClr val="tx1"/>
                          </a:solidFill>
                          <a:prstDash val="solid"/>
                          <a:round/>
                          <a:headEnd type="none" w="med" len="med"/>
                          <a:tailEnd type="none" w="med" len="med"/>
                        </a:lnT>
                      </a:tcPr>
                    </a:tc>
                    <a:tc>
                      <a:txBody>
                        <a:bodyPr/>
                        <a:lstStyle/>
                        <a:p>
                          <a:pPr marL="0" algn="ctr" defTabSz="2138324" rtl="0" eaLnBrk="1" latinLnBrk="0" hangingPunct="1">
                            <a:lnSpc>
                              <a:spcPct val="100000"/>
                            </a:lnSpc>
                            <a:spcAft>
                              <a:spcPts val="0"/>
                            </a:spcAft>
                          </a:pPr>
                          <a:r>
                            <a:rPr lang="en-GB" sz="2000" b="0" kern="1200" dirty="0">
                              <a:solidFill>
                                <a:schemeClr val="tx1"/>
                              </a:solidFill>
                              <a:effectLst/>
                              <a:latin typeface="Segoe UI Light" panose="020B0502040204020203" pitchFamily="34" charset="0"/>
                              <a:ea typeface="+mn-ea"/>
                              <a:cs typeface="Segoe UI Light" panose="020B0502040204020203" pitchFamily="34" charset="0"/>
                            </a:rPr>
                            <a:t>Coffee</a:t>
                          </a:r>
                        </a:p>
                      </a:txBody>
                      <a:tcPr marL="0" marR="0" marT="17780" marB="17780">
                        <a:lnT w="38100" cap="flat" cmpd="sng" algn="ctr">
                          <a:solidFill>
                            <a:schemeClr val="tx1"/>
                          </a:solidFill>
                          <a:prstDash val="solid"/>
                          <a:round/>
                          <a:headEnd type="none" w="med" len="med"/>
                          <a:tailEnd type="none" w="med" len="med"/>
                        </a:lnT>
                      </a:tcPr>
                    </a:tc>
                    <a:tc>
                      <a:txBody>
                        <a:bodyPr/>
                        <a:lstStyle/>
                        <a:p>
                          <a:pPr marL="0" algn="ctr" defTabSz="2138324" rtl="0" eaLnBrk="1" latinLnBrk="0" hangingPunct="1">
                            <a:lnSpc>
                              <a:spcPct val="100000"/>
                            </a:lnSpc>
                            <a:spcAft>
                              <a:spcPts val="0"/>
                            </a:spcAft>
                          </a:pPr>
                          <a:r>
                            <a:rPr lang="en-GB" sz="2000" b="0" kern="1200" dirty="0">
                              <a:solidFill>
                                <a:schemeClr val="tx1"/>
                              </a:solidFill>
                              <a:effectLst/>
                              <a:latin typeface="Segoe UI Light" panose="020B0502040204020203" pitchFamily="34" charset="0"/>
                              <a:ea typeface="+mn-ea"/>
                              <a:cs typeface="Segoe UI Light" panose="020B0502040204020203" pitchFamily="34" charset="0"/>
                            </a:rPr>
                            <a:t>66</a:t>
                          </a:r>
                        </a:p>
                      </a:txBody>
                      <a:tcPr marL="0" marR="64770" marT="17780" marB="17780">
                        <a:lnT w="38100" cap="flat" cmpd="sng" algn="ctr">
                          <a:solidFill>
                            <a:schemeClr val="tx1"/>
                          </a:solidFill>
                          <a:prstDash val="solid"/>
                          <a:round/>
                          <a:headEnd type="none" w="med" len="med"/>
                          <a:tailEnd type="none" w="med" len="med"/>
                        </a:lnT>
                      </a:tcPr>
                    </a:tc>
                    <a:tc>
                      <a:txBody>
                        <a:bodyPr/>
                        <a:lstStyle/>
                        <a:p>
                          <a:pPr marL="0" algn="ctr" defTabSz="2138324" rtl="0" eaLnBrk="1" latinLnBrk="0" hangingPunct="1">
                            <a:lnSpc>
                              <a:spcPct val="100000"/>
                            </a:lnSpc>
                            <a:spcAft>
                              <a:spcPts val="0"/>
                            </a:spcAft>
                          </a:pPr>
                          <a:r>
                            <a:rPr lang="en-GB" sz="2000" b="0" kern="1200">
                              <a:solidFill>
                                <a:schemeClr val="tx1"/>
                              </a:solidFill>
                              <a:effectLst/>
                              <a:latin typeface="Segoe UI Light" panose="020B0502040204020203" pitchFamily="34" charset="0"/>
                              <a:ea typeface="+mn-ea"/>
                              <a:cs typeface="Segoe UI Light" panose="020B0502040204020203" pitchFamily="34" charset="0"/>
                            </a:rPr>
                            <a:t>0.15</a:t>
                          </a:r>
                        </a:p>
                      </a:txBody>
                      <a:tcPr marL="0" marR="64770" marT="17780" marB="17780">
                        <a:lnT w="38100" cap="flat" cmpd="sng" algn="ctr">
                          <a:solidFill>
                            <a:schemeClr val="tx1"/>
                          </a:solidFill>
                          <a:prstDash val="solid"/>
                          <a:round/>
                          <a:headEnd type="none" w="med" len="med"/>
                          <a:tailEnd type="none" w="med" len="med"/>
                        </a:lnT>
                      </a:tcPr>
                    </a:tc>
                    <a:tc>
                      <a:txBody>
                        <a:bodyPr/>
                        <a:lstStyle/>
                        <a:p>
                          <a:pPr marL="0" algn="ctr" defTabSz="2138324" rtl="0" eaLnBrk="1" latinLnBrk="0" hangingPunct="1">
                            <a:lnSpc>
                              <a:spcPct val="100000"/>
                            </a:lnSpc>
                            <a:spcAft>
                              <a:spcPts val="0"/>
                            </a:spcAft>
                          </a:pPr>
                          <a:r>
                            <a:rPr lang="en-GB" sz="2000" b="0" kern="1200">
                              <a:solidFill>
                                <a:schemeClr val="tx1"/>
                              </a:solidFill>
                              <a:effectLst/>
                              <a:latin typeface="Segoe UI Light" panose="020B0502040204020203" pitchFamily="34" charset="0"/>
                              <a:ea typeface="+mn-ea"/>
                              <a:cs typeface="Segoe UI Light" panose="020B0502040204020203" pitchFamily="34" charset="0"/>
                            </a:rPr>
                            <a:t>137</a:t>
                          </a:r>
                        </a:p>
                      </a:txBody>
                      <a:tcPr marL="0" marR="64770" marT="17780" marB="17780">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3"/>
                      </a:ext>
                    </a:extLst>
                  </a:tr>
                  <a:tr h="506774">
                    <a:tc>
                      <a:txBody>
                        <a:bodyPr/>
                        <a:lstStyle/>
                        <a:p>
                          <a:pPr marL="0" algn="ctr" defTabSz="2138324" rtl="0" eaLnBrk="1" latinLnBrk="0" hangingPunct="1">
                            <a:lnSpc>
                              <a:spcPct val="100000"/>
                            </a:lnSpc>
                            <a:spcAft>
                              <a:spcPts val="0"/>
                            </a:spcAft>
                          </a:pPr>
                          <a:r>
                            <a:rPr lang="en-GB" sz="2000" b="0" kern="1200">
                              <a:solidFill>
                                <a:schemeClr val="tx1"/>
                              </a:solidFill>
                              <a:effectLst/>
                              <a:latin typeface="Segoe UI Light" panose="020B0502040204020203" pitchFamily="34" charset="0"/>
                              <a:ea typeface="+mn-ea"/>
                              <a:cs typeface="Segoe UI Light" panose="020B0502040204020203" pitchFamily="34" charset="0"/>
                            </a:rPr>
                            <a:t>60</a:t>
                          </a:r>
                        </a:p>
                      </a:txBody>
                      <a:tcPr marL="0" marR="64770" marT="17780" marB="17780">
                        <a:noFill/>
                      </a:tcPr>
                    </a:tc>
                    <a:tc>
                      <a:txBody>
                        <a:bodyPr/>
                        <a:lstStyle/>
                        <a:p>
                          <a:pPr marL="0" algn="ctr" defTabSz="2138324" rtl="0" eaLnBrk="1" latinLnBrk="0" hangingPunct="1">
                            <a:lnSpc>
                              <a:spcPct val="100000"/>
                            </a:lnSpc>
                            <a:spcAft>
                              <a:spcPts val="0"/>
                            </a:spcAft>
                          </a:pPr>
                          <a:r>
                            <a:rPr lang="en-GB" sz="2000" b="0" kern="1200" dirty="0">
                              <a:solidFill>
                                <a:schemeClr val="tx1"/>
                              </a:solidFill>
                              <a:effectLst/>
                              <a:latin typeface="Segoe UI Light" panose="020B0502040204020203" pitchFamily="34" charset="0"/>
                              <a:ea typeface="+mn-ea"/>
                              <a:cs typeface="Segoe UI Light" panose="020B0502040204020203" pitchFamily="34" charset="0"/>
                            </a:rPr>
                            <a:t>90</a:t>
                          </a:r>
                        </a:p>
                      </a:txBody>
                      <a:tcPr marL="0" marR="64770" marT="17780" marB="17780">
                        <a:noFill/>
                      </a:tcPr>
                    </a:tc>
                    <a:tc>
                      <a:txBody>
                        <a:bodyPr/>
                        <a:lstStyle/>
                        <a:p>
                          <a:pPr marL="0" algn="ctr" defTabSz="2138324" rtl="0" eaLnBrk="1" latinLnBrk="0" hangingPunct="1">
                            <a:lnSpc>
                              <a:spcPct val="100000"/>
                            </a:lnSpc>
                            <a:spcAft>
                              <a:spcPts val="0"/>
                            </a:spcAft>
                          </a:pPr>
                          <a:r>
                            <a:rPr lang="en-GB" sz="2000" b="0" kern="1200">
                              <a:solidFill>
                                <a:schemeClr val="tx1"/>
                              </a:solidFill>
                              <a:effectLst/>
                              <a:latin typeface="Segoe UI Light" panose="020B0502040204020203" pitchFamily="34" charset="0"/>
                              <a:ea typeface="+mn-ea"/>
                              <a:cs typeface="Segoe UI Light" panose="020B0502040204020203" pitchFamily="34" charset="0"/>
                            </a:rPr>
                            <a:t>Salt</a:t>
                          </a:r>
                        </a:p>
                      </a:txBody>
                      <a:tcPr marL="0" marR="0" marT="17780" marB="17780">
                        <a:noFill/>
                      </a:tcPr>
                    </a:tc>
                    <a:tc>
                      <a:txBody>
                        <a:bodyPr/>
                        <a:lstStyle/>
                        <a:p>
                          <a:pPr marL="0" algn="ctr" defTabSz="2138324" rtl="0" eaLnBrk="1" latinLnBrk="0" hangingPunct="1">
                            <a:lnSpc>
                              <a:spcPct val="100000"/>
                            </a:lnSpc>
                            <a:spcAft>
                              <a:spcPts val="0"/>
                            </a:spcAft>
                          </a:pPr>
                          <a:r>
                            <a:rPr lang="en-GB" sz="2000" b="0" kern="1200" dirty="0">
                              <a:solidFill>
                                <a:schemeClr val="tx1"/>
                              </a:solidFill>
                              <a:effectLst/>
                              <a:latin typeface="Segoe UI Light" panose="020B0502040204020203" pitchFamily="34" charset="0"/>
                              <a:ea typeface="+mn-ea"/>
                              <a:cs typeface="Segoe UI Light" panose="020B0502040204020203" pitchFamily="34" charset="0"/>
                            </a:rPr>
                            <a:t>159</a:t>
                          </a:r>
                        </a:p>
                      </a:txBody>
                      <a:tcPr marL="0" marR="64770" marT="17780" marB="17780">
                        <a:noFill/>
                      </a:tcPr>
                    </a:tc>
                    <a:tc>
                      <a:txBody>
                        <a:bodyPr/>
                        <a:lstStyle/>
                        <a:p>
                          <a:pPr marL="0" algn="ctr" defTabSz="2138324" rtl="0" eaLnBrk="1" latinLnBrk="0" hangingPunct="1">
                            <a:lnSpc>
                              <a:spcPct val="100000"/>
                            </a:lnSpc>
                            <a:spcAft>
                              <a:spcPts val="0"/>
                            </a:spcAft>
                          </a:pPr>
                          <a:r>
                            <a:rPr lang="en-GB" sz="2000" b="0" kern="1200" dirty="0">
                              <a:solidFill>
                                <a:schemeClr val="tx1"/>
                              </a:solidFill>
                              <a:effectLst/>
                              <a:latin typeface="Segoe UI Light" panose="020B0502040204020203" pitchFamily="34" charset="0"/>
                              <a:ea typeface="+mn-ea"/>
                              <a:cs typeface="Segoe UI Light" panose="020B0502040204020203" pitchFamily="34" charset="0"/>
                            </a:rPr>
                            <a:t>0.20</a:t>
                          </a:r>
                        </a:p>
                      </a:txBody>
                      <a:tcPr marL="0" marR="64770" marT="17780" marB="17780">
                        <a:noFill/>
                      </a:tcPr>
                    </a:tc>
                    <a:tc>
                      <a:txBody>
                        <a:bodyPr/>
                        <a:lstStyle/>
                        <a:p>
                          <a:pPr marL="0" algn="ctr" defTabSz="2138324" rtl="0" eaLnBrk="1" latinLnBrk="0" hangingPunct="1">
                            <a:lnSpc>
                              <a:spcPct val="100000"/>
                            </a:lnSpc>
                            <a:spcAft>
                              <a:spcPts val="0"/>
                            </a:spcAft>
                          </a:pPr>
                          <a:r>
                            <a:rPr lang="en-GB" sz="2000" b="0" kern="1200">
                              <a:solidFill>
                                <a:schemeClr val="tx1"/>
                              </a:solidFill>
                              <a:effectLst/>
                              <a:latin typeface="Segoe UI Light" panose="020B0502040204020203" pitchFamily="34" charset="0"/>
                              <a:ea typeface="+mn-ea"/>
                              <a:cs typeface="Segoe UI Light" panose="020B0502040204020203" pitchFamily="34" charset="0"/>
                            </a:rPr>
                            <a:t>154</a:t>
                          </a:r>
                        </a:p>
                      </a:txBody>
                      <a:tcPr marL="0" marR="64770" marT="17780" marB="17780">
                        <a:noFill/>
                      </a:tcPr>
                    </a:tc>
                    <a:extLst>
                      <a:ext uri="{0D108BD9-81ED-4DB2-BD59-A6C34878D82A}">
                        <a16:rowId xmlns:a16="http://schemas.microsoft.com/office/drawing/2014/main" val="10004"/>
                      </a:ext>
                    </a:extLst>
                  </a:tr>
                  <a:tr h="506774">
                    <a:tc>
                      <a:txBody>
                        <a:bodyPr/>
                        <a:lstStyle/>
                        <a:p>
                          <a:pPr marL="0" algn="ctr" defTabSz="2138324" rtl="0" eaLnBrk="1" latinLnBrk="0" hangingPunct="1">
                            <a:lnSpc>
                              <a:spcPct val="100000"/>
                            </a:lnSpc>
                            <a:spcAft>
                              <a:spcPts val="0"/>
                            </a:spcAft>
                          </a:pPr>
                          <a:r>
                            <a:rPr lang="en-GB" sz="2000" b="0" kern="1200">
                              <a:solidFill>
                                <a:schemeClr val="tx1"/>
                              </a:solidFill>
                              <a:effectLst/>
                              <a:latin typeface="Segoe UI Light" panose="020B0502040204020203" pitchFamily="34" charset="0"/>
                              <a:ea typeface="+mn-ea"/>
                              <a:cs typeface="Segoe UI Light" panose="020B0502040204020203" pitchFamily="34" charset="0"/>
                            </a:rPr>
                            <a:t>70</a:t>
                          </a:r>
                        </a:p>
                      </a:txBody>
                      <a:tcPr marL="0" marR="64770" marT="17780" marB="17780"/>
                    </a:tc>
                    <a:tc>
                      <a:txBody>
                        <a:bodyPr/>
                        <a:lstStyle/>
                        <a:p>
                          <a:pPr marL="0" algn="ctr" defTabSz="2138324" rtl="0" eaLnBrk="1" latinLnBrk="0" hangingPunct="1">
                            <a:lnSpc>
                              <a:spcPct val="100000"/>
                            </a:lnSpc>
                            <a:spcAft>
                              <a:spcPts val="0"/>
                            </a:spcAft>
                          </a:pPr>
                          <a:r>
                            <a:rPr lang="en-US" sz="2000" b="0" kern="1200">
                              <a:solidFill>
                                <a:schemeClr val="tx1"/>
                              </a:solidFill>
                              <a:effectLst/>
                              <a:latin typeface="Segoe UI Light" panose="020B0502040204020203" pitchFamily="34" charset="0"/>
                              <a:ea typeface="+mn-ea"/>
                              <a:cs typeface="Segoe UI Light" panose="020B0502040204020203" pitchFamily="34" charset="0"/>
                            </a:rPr>
                            <a:t>133</a:t>
                          </a:r>
                          <a:endParaRPr lang="en-GB" sz="2000" b="0" kern="1200">
                            <a:solidFill>
                              <a:schemeClr val="tx1"/>
                            </a:solidFill>
                            <a:effectLst/>
                            <a:latin typeface="Segoe UI Light" panose="020B0502040204020203" pitchFamily="34" charset="0"/>
                            <a:ea typeface="+mn-ea"/>
                            <a:cs typeface="Segoe UI Light" panose="020B0502040204020203" pitchFamily="34" charset="0"/>
                          </a:endParaRPr>
                        </a:p>
                      </a:txBody>
                      <a:tcPr marL="0" marR="64770" marT="17780" marB="17780"/>
                    </a:tc>
                    <a:tc>
                      <a:txBody>
                        <a:bodyPr/>
                        <a:lstStyle/>
                        <a:p>
                          <a:pPr marL="0" algn="ctr" defTabSz="2138324" rtl="0" eaLnBrk="1" latinLnBrk="0" hangingPunct="1">
                            <a:lnSpc>
                              <a:spcPct val="100000"/>
                            </a:lnSpc>
                            <a:spcAft>
                              <a:spcPts val="0"/>
                            </a:spcAft>
                          </a:pPr>
                          <a:r>
                            <a:rPr lang="en-GB" sz="2000" b="0" kern="1200">
                              <a:solidFill>
                                <a:schemeClr val="tx1"/>
                              </a:solidFill>
                              <a:effectLst/>
                              <a:latin typeface="Segoe UI Light" panose="020B0502040204020203" pitchFamily="34" charset="0"/>
                              <a:ea typeface="+mn-ea"/>
                              <a:cs typeface="Segoe UI Light" panose="020B0502040204020203" pitchFamily="34" charset="0"/>
                            </a:rPr>
                            <a:t>Coffee + salt</a:t>
                          </a:r>
                        </a:p>
                      </a:txBody>
                      <a:tcPr marL="0" marR="0" marT="17780" marB="17780"/>
                    </a:tc>
                    <a:tc>
                      <a:txBody>
                        <a:bodyPr/>
                        <a:lstStyle/>
                        <a:p>
                          <a:pPr marL="0" algn="ctr" defTabSz="2138324" rtl="0" eaLnBrk="1" latinLnBrk="0" hangingPunct="1">
                            <a:lnSpc>
                              <a:spcPct val="100000"/>
                            </a:lnSpc>
                            <a:spcAft>
                              <a:spcPts val="0"/>
                            </a:spcAft>
                          </a:pPr>
                          <a:r>
                            <a:rPr lang="en-US" sz="2000" b="0" kern="1200" dirty="0">
                              <a:solidFill>
                                <a:schemeClr val="tx1"/>
                              </a:solidFill>
                              <a:effectLst/>
                              <a:latin typeface="Segoe UI Light" panose="020B0502040204020203" pitchFamily="34" charset="0"/>
                              <a:ea typeface="+mn-ea"/>
                              <a:cs typeface="Segoe UI Light" panose="020B0502040204020203" pitchFamily="34" charset="0"/>
                            </a:rPr>
                            <a:t>77</a:t>
                          </a:r>
                          <a:endParaRPr lang="en-GB" sz="2000" b="0" kern="1200" dirty="0">
                            <a:solidFill>
                              <a:schemeClr val="tx1"/>
                            </a:solidFill>
                            <a:effectLst/>
                            <a:latin typeface="Segoe UI Light" panose="020B0502040204020203" pitchFamily="34" charset="0"/>
                            <a:ea typeface="+mn-ea"/>
                            <a:cs typeface="Segoe UI Light" panose="020B0502040204020203" pitchFamily="34" charset="0"/>
                          </a:endParaRPr>
                        </a:p>
                      </a:txBody>
                      <a:tcPr marL="0" marR="64770" marT="17780" marB="17780"/>
                    </a:tc>
                    <a:tc>
                      <a:txBody>
                        <a:bodyPr/>
                        <a:lstStyle/>
                        <a:p>
                          <a:pPr marL="0" algn="ctr" defTabSz="2138324" rtl="0" eaLnBrk="1" latinLnBrk="0" hangingPunct="1">
                            <a:lnSpc>
                              <a:spcPct val="100000"/>
                            </a:lnSpc>
                            <a:spcAft>
                              <a:spcPts val="0"/>
                            </a:spcAft>
                          </a:pPr>
                          <a:r>
                            <a:rPr lang="en-GB" sz="2000" b="0" kern="1200" dirty="0">
                              <a:solidFill>
                                <a:schemeClr val="tx1"/>
                              </a:solidFill>
                              <a:effectLst/>
                              <a:latin typeface="Segoe UI Light" panose="020B0502040204020203" pitchFamily="34" charset="0"/>
                              <a:ea typeface="+mn-ea"/>
                              <a:cs typeface="Segoe UI Light" panose="020B0502040204020203" pitchFamily="34" charset="0"/>
                            </a:rPr>
                            <a:t>0.25</a:t>
                          </a:r>
                        </a:p>
                      </a:txBody>
                      <a:tcPr marL="0" marR="64770" marT="17780" marB="17780"/>
                    </a:tc>
                    <a:tc>
                      <a:txBody>
                        <a:bodyPr/>
                        <a:lstStyle/>
                        <a:p>
                          <a:pPr marL="0" algn="ctr" defTabSz="2138324" rtl="0" eaLnBrk="1" latinLnBrk="0" hangingPunct="1">
                            <a:lnSpc>
                              <a:spcPct val="100000"/>
                            </a:lnSpc>
                            <a:spcAft>
                              <a:spcPts val="0"/>
                            </a:spcAft>
                          </a:pPr>
                          <a:r>
                            <a:rPr lang="en-US" sz="2000" b="0" kern="1200">
                              <a:solidFill>
                                <a:schemeClr val="tx1"/>
                              </a:solidFill>
                              <a:effectLst/>
                              <a:latin typeface="Segoe UI Light" panose="020B0502040204020203" pitchFamily="34" charset="0"/>
                              <a:ea typeface="+mn-ea"/>
                              <a:cs typeface="Segoe UI Light" panose="020B0502040204020203" pitchFamily="34" charset="0"/>
                            </a:rPr>
                            <a:t>70</a:t>
                          </a:r>
                          <a:endParaRPr lang="en-GB" sz="2000" b="0" kern="1200">
                            <a:solidFill>
                              <a:schemeClr val="tx1"/>
                            </a:solidFill>
                            <a:effectLst/>
                            <a:latin typeface="Segoe UI Light" panose="020B0502040204020203" pitchFamily="34" charset="0"/>
                            <a:ea typeface="+mn-ea"/>
                            <a:cs typeface="Segoe UI Light" panose="020B0502040204020203" pitchFamily="34" charset="0"/>
                          </a:endParaRPr>
                        </a:p>
                      </a:txBody>
                      <a:tcPr marL="0" marR="64770" marT="17780" marB="17780"/>
                    </a:tc>
                    <a:extLst>
                      <a:ext uri="{0D108BD9-81ED-4DB2-BD59-A6C34878D82A}">
                        <a16:rowId xmlns:a16="http://schemas.microsoft.com/office/drawing/2014/main" val="10005"/>
                      </a:ext>
                    </a:extLst>
                  </a:tr>
                  <a:tr h="506774">
                    <a:tc>
                      <a:txBody>
                        <a:bodyPr/>
                        <a:lstStyle/>
                        <a:p>
                          <a:pPr marL="0" algn="ctr" defTabSz="2138324" rtl="0" eaLnBrk="1" latinLnBrk="0" hangingPunct="1">
                            <a:lnSpc>
                              <a:spcPct val="100000"/>
                            </a:lnSpc>
                            <a:spcAft>
                              <a:spcPts val="0"/>
                            </a:spcAft>
                          </a:pPr>
                          <a:r>
                            <a:rPr lang="en-US" sz="2000" b="0" kern="1200">
                              <a:solidFill>
                                <a:schemeClr val="tx1"/>
                              </a:solidFill>
                              <a:effectLst/>
                              <a:latin typeface="Segoe UI Light" panose="020B0502040204020203" pitchFamily="34" charset="0"/>
                              <a:ea typeface="+mn-ea"/>
                              <a:cs typeface="Segoe UI Light" panose="020B0502040204020203" pitchFamily="34" charset="0"/>
                            </a:rPr>
                            <a:t> </a:t>
                          </a:r>
                          <a:endParaRPr lang="en-GB" sz="2000" b="0" kern="1200">
                            <a:solidFill>
                              <a:schemeClr val="tx1"/>
                            </a:solidFill>
                            <a:effectLst/>
                            <a:latin typeface="Segoe UI Light" panose="020B0502040204020203" pitchFamily="34" charset="0"/>
                            <a:ea typeface="+mn-ea"/>
                            <a:cs typeface="Segoe UI Light" panose="020B0502040204020203" pitchFamily="34" charset="0"/>
                          </a:endParaRPr>
                        </a:p>
                      </a:txBody>
                      <a:tcPr marL="0" marR="64770" marT="17780" marB="17780">
                        <a:noFill/>
                      </a:tcPr>
                    </a:tc>
                    <a:tc>
                      <a:txBody>
                        <a:bodyPr/>
                        <a:lstStyle/>
                        <a:p>
                          <a:pPr marL="0" algn="ctr" defTabSz="2138324" rtl="0" eaLnBrk="1" latinLnBrk="0" hangingPunct="1">
                            <a:lnSpc>
                              <a:spcPct val="100000"/>
                            </a:lnSpc>
                            <a:spcAft>
                              <a:spcPts val="0"/>
                            </a:spcAft>
                          </a:pPr>
                          <a:r>
                            <a:rPr lang="en-US" sz="2000" b="0" kern="1200">
                              <a:solidFill>
                                <a:schemeClr val="tx1"/>
                              </a:solidFill>
                              <a:effectLst/>
                              <a:latin typeface="Segoe UI Light" panose="020B0502040204020203" pitchFamily="34" charset="0"/>
                              <a:ea typeface="+mn-ea"/>
                              <a:cs typeface="Segoe UI Light" panose="020B0502040204020203" pitchFamily="34" charset="0"/>
                            </a:rPr>
                            <a:t> </a:t>
                          </a:r>
                          <a:endParaRPr lang="en-GB" sz="2000" b="0" kern="1200">
                            <a:solidFill>
                              <a:schemeClr val="tx1"/>
                            </a:solidFill>
                            <a:effectLst/>
                            <a:latin typeface="Segoe UI Light" panose="020B0502040204020203" pitchFamily="34" charset="0"/>
                            <a:ea typeface="+mn-ea"/>
                            <a:cs typeface="Segoe UI Light" panose="020B0502040204020203" pitchFamily="34" charset="0"/>
                          </a:endParaRPr>
                        </a:p>
                      </a:txBody>
                      <a:tcPr marL="0" marR="64770" marT="17780" marB="17780">
                        <a:noFill/>
                      </a:tcPr>
                    </a:tc>
                    <a:tc>
                      <a:txBody>
                        <a:bodyPr/>
                        <a:lstStyle/>
                        <a:p>
                          <a:pPr marL="0" algn="ctr" defTabSz="2138324" rtl="0" eaLnBrk="1" latinLnBrk="0" hangingPunct="1">
                            <a:lnSpc>
                              <a:spcPct val="100000"/>
                            </a:lnSpc>
                            <a:spcAft>
                              <a:spcPts val="0"/>
                            </a:spcAft>
                          </a:pPr>
                          <a:r>
                            <a:rPr lang="en-GB" sz="2000" b="0" kern="1200">
                              <a:solidFill>
                                <a:schemeClr val="tx1"/>
                              </a:solidFill>
                              <a:effectLst/>
                              <a:latin typeface="Segoe UI Light" panose="020B0502040204020203" pitchFamily="34" charset="0"/>
                              <a:ea typeface="+mn-ea"/>
                              <a:cs typeface="Segoe UI Light" panose="020B0502040204020203" pitchFamily="34" charset="0"/>
                            </a:rPr>
                            <a:t>Sugar</a:t>
                          </a:r>
                        </a:p>
                      </a:txBody>
                      <a:tcPr marL="0" marR="0" marT="17780" marB="17780">
                        <a:noFill/>
                      </a:tcPr>
                    </a:tc>
                    <a:tc>
                      <a:txBody>
                        <a:bodyPr/>
                        <a:lstStyle/>
                        <a:p>
                          <a:pPr marL="0" algn="ctr" defTabSz="2138324" rtl="0" eaLnBrk="1" latinLnBrk="0" hangingPunct="1">
                            <a:lnSpc>
                              <a:spcPct val="100000"/>
                            </a:lnSpc>
                            <a:spcAft>
                              <a:spcPts val="0"/>
                            </a:spcAft>
                          </a:pPr>
                          <a:r>
                            <a:rPr lang="en-US" sz="2000" b="0" kern="1200">
                              <a:solidFill>
                                <a:schemeClr val="tx1"/>
                              </a:solidFill>
                              <a:effectLst/>
                              <a:latin typeface="Segoe UI Light" panose="020B0502040204020203" pitchFamily="34" charset="0"/>
                              <a:ea typeface="+mn-ea"/>
                              <a:cs typeface="Segoe UI Light" panose="020B0502040204020203" pitchFamily="34" charset="0"/>
                            </a:rPr>
                            <a:t>227</a:t>
                          </a:r>
                          <a:endParaRPr lang="en-GB" sz="2000" b="0" kern="1200">
                            <a:solidFill>
                              <a:schemeClr val="tx1"/>
                            </a:solidFill>
                            <a:effectLst/>
                            <a:latin typeface="Segoe UI Light" panose="020B0502040204020203" pitchFamily="34" charset="0"/>
                            <a:ea typeface="+mn-ea"/>
                            <a:cs typeface="Segoe UI Light" panose="020B0502040204020203" pitchFamily="34" charset="0"/>
                          </a:endParaRPr>
                        </a:p>
                      </a:txBody>
                      <a:tcPr marL="0" marR="64770" marT="17780" marB="17780">
                        <a:noFill/>
                      </a:tcPr>
                    </a:tc>
                    <a:tc>
                      <a:txBody>
                        <a:bodyPr/>
                        <a:lstStyle/>
                        <a:p>
                          <a:pPr marL="0" algn="ctr" defTabSz="2138324" rtl="0" eaLnBrk="1" latinLnBrk="0" hangingPunct="1">
                            <a:lnSpc>
                              <a:spcPct val="100000"/>
                            </a:lnSpc>
                            <a:spcAft>
                              <a:spcPts val="0"/>
                            </a:spcAft>
                          </a:pPr>
                          <a:r>
                            <a:rPr lang="en-US" sz="2000" b="0" kern="1200" dirty="0">
                              <a:solidFill>
                                <a:schemeClr val="tx1"/>
                              </a:solidFill>
                              <a:effectLst/>
                              <a:latin typeface="Segoe UI Light" panose="020B0502040204020203" pitchFamily="34" charset="0"/>
                              <a:ea typeface="+mn-ea"/>
                              <a:cs typeface="Segoe UI Light" panose="020B0502040204020203" pitchFamily="34" charset="0"/>
                            </a:rPr>
                            <a:t> </a:t>
                          </a:r>
                          <a:endParaRPr lang="en-GB" sz="2000" b="0" kern="1200" dirty="0">
                            <a:solidFill>
                              <a:schemeClr val="tx1"/>
                            </a:solidFill>
                            <a:effectLst/>
                            <a:latin typeface="Segoe UI Light" panose="020B0502040204020203" pitchFamily="34" charset="0"/>
                            <a:ea typeface="+mn-ea"/>
                            <a:cs typeface="Segoe UI Light" panose="020B0502040204020203" pitchFamily="34" charset="0"/>
                          </a:endParaRPr>
                        </a:p>
                      </a:txBody>
                      <a:tcPr marL="0" marR="64770" marT="17780" marB="17780">
                        <a:noFill/>
                      </a:tcPr>
                    </a:tc>
                    <a:tc>
                      <a:txBody>
                        <a:bodyPr/>
                        <a:lstStyle/>
                        <a:p>
                          <a:pPr marL="0" algn="ctr" defTabSz="2138324" rtl="0" eaLnBrk="1" latinLnBrk="0" hangingPunct="1">
                            <a:lnSpc>
                              <a:spcPct val="100000"/>
                            </a:lnSpc>
                            <a:spcAft>
                              <a:spcPts val="0"/>
                            </a:spcAft>
                          </a:pPr>
                          <a:r>
                            <a:rPr lang="en-US" sz="2000" b="0" kern="1200" dirty="0">
                              <a:solidFill>
                                <a:schemeClr val="tx1"/>
                              </a:solidFill>
                              <a:effectLst/>
                              <a:latin typeface="Segoe UI Light" panose="020B0502040204020203" pitchFamily="34" charset="0"/>
                              <a:ea typeface="+mn-ea"/>
                              <a:cs typeface="Segoe UI Light" panose="020B0502040204020203" pitchFamily="34" charset="0"/>
                            </a:rPr>
                            <a:t> </a:t>
                          </a:r>
                          <a:endParaRPr lang="en-GB" sz="2000" b="0" kern="1200" dirty="0">
                            <a:solidFill>
                              <a:schemeClr val="tx1"/>
                            </a:solidFill>
                            <a:effectLst/>
                            <a:latin typeface="Segoe UI Light" panose="020B0502040204020203" pitchFamily="34" charset="0"/>
                            <a:ea typeface="+mn-ea"/>
                            <a:cs typeface="Segoe UI Light" panose="020B0502040204020203" pitchFamily="34" charset="0"/>
                          </a:endParaRPr>
                        </a:p>
                      </a:txBody>
                      <a:tcPr marL="0" marR="64770" marT="17780" marB="17780">
                        <a:noFill/>
                      </a:tcPr>
                    </a:tc>
                    <a:extLst>
                      <a:ext uri="{0D108BD9-81ED-4DB2-BD59-A6C34878D82A}">
                        <a16:rowId xmlns:a16="http://schemas.microsoft.com/office/drawing/2014/main" val="10006"/>
                      </a:ext>
                    </a:extLst>
                  </a:tr>
                </a:tbl>
              </a:graphicData>
            </a:graphic>
          </p:graphicFrame>
        </mc:Choice>
        <mc:Fallback>
          <p:graphicFrame>
            <p:nvGraphicFramePr>
              <p:cNvPr id="8" name="Table 7"/>
              <p:cNvGraphicFramePr>
                <a:graphicFrameLocks noGrp="1"/>
              </p:cNvGraphicFramePr>
              <p:nvPr>
                <p:extLst>
                  <p:ext uri="{D42A27DB-BD31-4B8C-83A1-F6EECF244321}">
                    <p14:modId xmlns:p14="http://schemas.microsoft.com/office/powerpoint/2010/main" val="1530606683"/>
                  </p:ext>
                </p:extLst>
              </p:nvPr>
            </p:nvGraphicFramePr>
            <p:xfrm>
              <a:off x="11483900" y="15271467"/>
              <a:ext cx="9053052" cy="3279107"/>
            </p:xfrm>
            <a:graphic>
              <a:graphicData uri="http://schemas.openxmlformats.org/drawingml/2006/table">
                <a:tbl>
                  <a:tblPr firstRow="1" firstCol="1" bandRow="1">
                    <a:tableStyleId>{9D7B26C5-4107-4FEC-AEDC-1716B250A1EF}</a:tableStyleId>
                  </a:tblPr>
                  <a:tblGrid>
                    <a:gridCol w="1508842">
                      <a:extLst>
                        <a:ext uri="{9D8B030D-6E8A-4147-A177-3AD203B41FA5}">
                          <a16:colId xmlns:a16="http://schemas.microsoft.com/office/drawing/2014/main" val="20000"/>
                        </a:ext>
                      </a:extLst>
                    </a:gridCol>
                    <a:gridCol w="1508842">
                      <a:extLst>
                        <a:ext uri="{9D8B030D-6E8A-4147-A177-3AD203B41FA5}">
                          <a16:colId xmlns:a16="http://schemas.microsoft.com/office/drawing/2014/main" val="20001"/>
                        </a:ext>
                      </a:extLst>
                    </a:gridCol>
                    <a:gridCol w="1508842">
                      <a:extLst>
                        <a:ext uri="{9D8B030D-6E8A-4147-A177-3AD203B41FA5}">
                          <a16:colId xmlns:a16="http://schemas.microsoft.com/office/drawing/2014/main" val="3227773833"/>
                        </a:ext>
                      </a:extLst>
                    </a:gridCol>
                    <a:gridCol w="1508842">
                      <a:extLst>
                        <a:ext uri="{9D8B030D-6E8A-4147-A177-3AD203B41FA5}">
                          <a16:colId xmlns:a16="http://schemas.microsoft.com/office/drawing/2014/main" val="3684389883"/>
                        </a:ext>
                      </a:extLst>
                    </a:gridCol>
                    <a:gridCol w="1508842">
                      <a:extLst>
                        <a:ext uri="{9D8B030D-6E8A-4147-A177-3AD203B41FA5}">
                          <a16:colId xmlns:a16="http://schemas.microsoft.com/office/drawing/2014/main" val="3852079237"/>
                        </a:ext>
                      </a:extLst>
                    </a:gridCol>
                    <a:gridCol w="1508842">
                      <a:extLst>
                        <a:ext uri="{9D8B030D-6E8A-4147-A177-3AD203B41FA5}">
                          <a16:colId xmlns:a16="http://schemas.microsoft.com/office/drawing/2014/main" val="1726852189"/>
                        </a:ext>
                      </a:extLst>
                    </a:gridCol>
                  </a:tblGrid>
                  <a:tr h="574466">
                    <a:tc gridSpan="2">
                      <a:txBody>
                        <a:bodyPr/>
                        <a:lstStyle/>
                        <a:p>
                          <a:pPr algn="ctr">
                            <a:lnSpc>
                              <a:spcPct val="100000"/>
                            </a:lnSpc>
                            <a:spcAft>
                              <a:spcPts val="0"/>
                            </a:spcAft>
                          </a:pPr>
                          <a:r>
                            <a:rPr lang="en-AU" sz="2000" dirty="0">
                              <a:effectLst/>
                              <a:latin typeface="Segoe UI Light" panose="020B0502040204020203" pitchFamily="34" charset="0"/>
                              <a:cs typeface="Segoe UI Light" panose="020B0502040204020203" pitchFamily="34" charset="0"/>
                            </a:rPr>
                            <a:t>Filling percentage</a:t>
                          </a:r>
                          <a:endParaRPr lang="en-NZ" sz="2000" b="1" dirty="0">
                            <a:effectLst/>
                            <a:latin typeface="Segoe UI Light" panose="020B0502040204020203" pitchFamily="34" charset="0"/>
                            <a:ea typeface="Calibri" panose="020F0502020204030204" pitchFamily="34" charset="0"/>
                            <a:cs typeface="Segoe UI Light" panose="020B0502040204020203" pitchFamily="34" charset="0"/>
                          </a:endParaRPr>
                        </a:p>
                      </a:txBody>
                      <a:tcPr marL="48439" marR="48439" marT="0" marB="0">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tcPr>
                    </a:tc>
                    <a:tc hMerge="1">
                      <a:txBody>
                        <a:bodyPr/>
                        <a:lstStyle/>
                        <a:p>
                          <a:pPr algn="ctr">
                            <a:lnSpc>
                              <a:spcPct val="100000"/>
                            </a:lnSpc>
                            <a:spcAft>
                              <a:spcPts val="0"/>
                            </a:spcAft>
                          </a:pPr>
                          <a:endParaRPr lang="en-NZ" sz="2000" b="1" dirty="0">
                            <a:effectLst/>
                            <a:latin typeface="Segoe UI Light" panose="020B0502040204020203" pitchFamily="34" charset="0"/>
                            <a:ea typeface="Calibri" panose="020F0502020204030204" pitchFamily="34" charset="0"/>
                            <a:cs typeface="Segoe UI Light" panose="020B0502040204020203" pitchFamily="34" charset="0"/>
                          </a:endParaRPr>
                        </a:p>
                      </a:txBody>
                      <a:tcPr marL="48439" marR="48439" marT="0" marB="0" anchor="ct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tcPr>
                    </a:tc>
                    <a:tc gridSpan="2">
                      <a:txBody>
                        <a:bodyPr/>
                        <a:lstStyle/>
                        <a:p>
                          <a:pPr algn="ctr">
                            <a:lnSpc>
                              <a:spcPct val="100000"/>
                            </a:lnSpc>
                            <a:spcAft>
                              <a:spcPts val="0"/>
                            </a:spcAft>
                          </a:pPr>
                          <a:r>
                            <a:rPr lang="en-NZ" sz="2000" b="1" dirty="0">
                              <a:effectLst/>
                              <a:latin typeface="Segoe UI Light" panose="020B0502040204020203" pitchFamily="34" charset="0"/>
                              <a:cs typeface="Segoe UI Light" panose="020B0502040204020203" pitchFamily="34" charset="0"/>
                            </a:rPr>
                            <a:t>Granule type</a:t>
                          </a:r>
                          <a:endParaRPr lang="en-NZ" sz="2000" b="1" dirty="0">
                            <a:effectLst/>
                            <a:latin typeface="Segoe UI Light" panose="020B0502040204020203" pitchFamily="34" charset="0"/>
                            <a:ea typeface="Calibri" panose="020F0502020204030204" pitchFamily="34" charset="0"/>
                            <a:cs typeface="Segoe UI Light" panose="020B0502040204020203" pitchFamily="34" charset="0"/>
                          </a:endParaRPr>
                        </a:p>
                      </a:txBody>
                      <a:tcPr marL="48439" marR="48439" marT="0" marB="0">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tcPr>
                    </a:tc>
                    <a:tc hMerge="1">
                      <a:txBody>
                        <a:bodyPr/>
                        <a:lstStyle/>
                        <a:p>
                          <a:pPr algn="ctr">
                            <a:lnSpc>
                              <a:spcPct val="100000"/>
                            </a:lnSpc>
                            <a:spcAft>
                              <a:spcPts val="0"/>
                            </a:spcAft>
                          </a:pPr>
                          <a:endParaRPr lang="en-NZ" sz="2000" b="1" dirty="0">
                            <a:effectLst/>
                            <a:latin typeface="Segoe UI Light" panose="020B0502040204020203" pitchFamily="34" charset="0"/>
                            <a:ea typeface="Calibri" panose="020F0502020204030204" pitchFamily="34" charset="0"/>
                            <a:cs typeface="Segoe UI Light" panose="020B0502040204020203" pitchFamily="34" charset="0"/>
                          </a:endParaRPr>
                        </a:p>
                      </a:txBody>
                      <a:tcPr marL="48439" marR="48439" marT="0" marB="0" anchor="ct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tcPr>
                    </a:tc>
                    <a:tc gridSpan="2">
                      <a:txBody>
                        <a:bodyPr/>
                        <a:lstStyle/>
                        <a:p>
                          <a:pPr algn="ctr">
                            <a:lnSpc>
                              <a:spcPct val="100000"/>
                            </a:lnSpc>
                            <a:spcAft>
                              <a:spcPts val="0"/>
                            </a:spcAft>
                          </a:pPr>
                          <a:r>
                            <a:rPr lang="en-NZ" sz="2000" b="1" dirty="0">
                              <a:effectLst/>
                              <a:latin typeface="Segoe UI Light" panose="020B0502040204020203" pitchFamily="34" charset="0"/>
                              <a:ea typeface="Calibri" panose="020F0502020204030204" pitchFamily="34" charset="0"/>
                              <a:cs typeface="Segoe UI Light" panose="020B0502040204020203" pitchFamily="34" charset="0"/>
                            </a:rPr>
                            <a:t>Membrane thickness</a:t>
                          </a:r>
                        </a:p>
                      </a:txBody>
                      <a:tcPr marL="48439" marR="48439" marT="0" marB="0">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tcPr>
                    </a:tc>
                    <a:tc hMerge="1">
                      <a:txBody>
                        <a:bodyPr/>
                        <a:lstStyle/>
                        <a:p>
                          <a:pPr algn="ctr">
                            <a:lnSpc>
                              <a:spcPct val="100000"/>
                            </a:lnSpc>
                            <a:spcAft>
                              <a:spcPts val="0"/>
                            </a:spcAft>
                          </a:pPr>
                          <a:endParaRPr lang="en-NZ" sz="2000" b="1" dirty="0">
                            <a:effectLst/>
                            <a:latin typeface="Segoe UI Light" panose="020B0502040204020203" pitchFamily="34" charset="0"/>
                            <a:ea typeface="Calibri" panose="020F0502020204030204" pitchFamily="34" charset="0"/>
                            <a:cs typeface="Segoe UI Light" panose="020B0502040204020203" pitchFamily="34" charset="0"/>
                          </a:endParaRPr>
                        </a:p>
                      </a:txBody>
                      <a:tcPr marL="48439" marR="48439" marT="0" marB="0" anchor="ct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tcPr>
                    </a:tc>
                    <a:extLst>
                      <a:ext uri="{0D108BD9-81ED-4DB2-BD59-A6C34878D82A}">
                        <a16:rowId xmlns:a16="http://schemas.microsoft.com/office/drawing/2014/main" val="10000"/>
                      </a:ext>
                    </a:extLst>
                  </a:tr>
                  <a:tr h="677545">
                    <a:tc>
                      <a:txBody>
                        <a:bodyPr/>
                        <a:lstStyle/>
                        <a:p>
                          <a:pPr marL="0" algn="ctr" defTabSz="2138324" rtl="0" eaLnBrk="1" latinLnBrk="0" hangingPunct="1">
                            <a:lnSpc>
                              <a:spcPct val="100000"/>
                            </a:lnSpc>
                            <a:spcAft>
                              <a:spcPts val="0"/>
                            </a:spcAft>
                          </a:pPr>
                          <a:r>
                            <a:rPr lang="en-US" sz="2000" b="0" kern="1200" dirty="0">
                              <a:solidFill>
                                <a:schemeClr val="tx1"/>
                              </a:solidFill>
                              <a:effectLst/>
                              <a:latin typeface="Segoe UI Light" panose="020B0502040204020203" pitchFamily="34" charset="0"/>
                              <a:ea typeface="+mn-ea"/>
                              <a:cs typeface="Segoe UI Light" panose="020B0502040204020203" pitchFamily="34" charset="0"/>
                            </a:rPr>
                            <a:t>Percentage (%)</a:t>
                          </a:r>
                          <a:endParaRPr lang="en-GB" sz="2000" b="0" kern="1200" dirty="0">
                            <a:solidFill>
                              <a:schemeClr val="tx1"/>
                            </a:solidFill>
                            <a:effectLst/>
                            <a:latin typeface="Segoe UI Light" panose="020B0502040204020203" pitchFamily="34" charset="0"/>
                            <a:ea typeface="+mn-ea"/>
                            <a:cs typeface="Segoe UI Light" panose="020B0502040204020203" pitchFamily="34" charset="0"/>
                          </a:endParaRPr>
                        </a:p>
                      </a:txBody>
                      <a:tcPr marL="0" marR="64770" marT="50165" marB="17780">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marL="0" marR="64770" marT="50165" marB="17780">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3"/>
                          <a:stretch>
                            <a:fillRect l="-100405" t="-94643" r="-402834" b="-298214"/>
                          </a:stretch>
                        </a:blipFill>
                      </a:tcPr>
                    </a:tc>
                    <a:tc>
                      <a:txBody>
                        <a:bodyPr/>
                        <a:lstStyle/>
                        <a:p>
                          <a:pPr marL="0" algn="ctr" defTabSz="2138324" rtl="0" eaLnBrk="1" latinLnBrk="0" hangingPunct="1">
                            <a:lnSpc>
                              <a:spcPct val="100000"/>
                            </a:lnSpc>
                            <a:spcAft>
                              <a:spcPts val="0"/>
                            </a:spcAft>
                          </a:pPr>
                          <a:r>
                            <a:rPr lang="en-US" sz="2000" b="0" kern="1200" dirty="0">
                              <a:solidFill>
                                <a:schemeClr val="tx1"/>
                              </a:solidFill>
                              <a:effectLst/>
                              <a:latin typeface="Segoe UI Light" panose="020B0502040204020203" pitchFamily="34" charset="0"/>
                              <a:ea typeface="+mn-ea"/>
                              <a:cs typeface="Segoe UI Light" panose="020B0502040204020203" pitchFamily="34" charset="0"/>
                            </a:rPr>
                            <a:t>Type</a:t>
                          </a:r>
                          <a:endParaRPr lang="en-GB" sz="2000" b="0" kern="1200" dirty="0">
                            <a:solidFill>
                              <a:schemeClr val="tx1"/>
                            </a:solidFill>
                            <a:effectLst/>
                            <a:latin typeface="Segoe UI Light" panose="020B0502040204020203" pitchFamily="34" charset="0"/>
                            <a:ea typeface="+mn-ea"/>
                            <a:cs typeface="Segoe UI Light" panose="020B0502040204020203" pitchFamily="34" charset="0"/>
                          </a:endParaRPr>
                        </a:p>
                      </a:txBody>
                      <a:tcPr marL="0" marR="0" marT="50165" marB="17780">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marL="0" marR="64770" marT="50165" marB="50165">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3"/>
                          <a:stretch>
                            <a:fillRect l="-299597" t="-94643" r="-201210" b="-298214"/>
                          </a:stretch>
                        </a:blipFill>
                      </a:tcPr>
                    </a:tc>
                    <a:tc>
                      <a:txBody>
                        <a:bodyPr/>
                        <a:lstStyle/>
                        <a:p>
                          <a:pPr marL="0" algn="ctr" defTabSz="2138324" rtl="0" eaLnBrk="1" latinLnBrk="0" hangingPunct="1">
                            <a:lnSpc>
                              <a:spcPct val="100000"/>
                            </a:lnSpc>
                            <a:spcAft>
                              <a:spcPts val="0"/>
                            </a:spcAft>
                          </a:pPr>
                          <a:r>
                            <a:rPr lang="en-US" sz="2000" b="0" kern="1200" dirty="0">
                              <a:solidFill>
                                <a:schemeClr val="tx1"/>
                              </a:solidFill>
                              <a:effectLst/>
                              <a:latin typeface="Segoe UI Light" panose="020B0502040204020203" pitchFamily="34" charset="0"/>
                              <a:ea typeface="+mn-ea"/>
                              <a:cs typeface="Segoe UI Light" panose="020B0502040204020203" pitchFamily="34" charset="0"/>
                            </a:rPr>
                            <a:t>Thickness</a:t>
                          </a:r>
                          <a:endParaRPr lang="en-GB" sz="2000" b="0" kern="1200" dirty="0">
                            <a:solidFill>
                              <a:schemeClr val="tx1"/>
                            </a:solidFill>
                            <a:effectLst/>
                            <a:latin typeface="Segoe UI Light" panose="020B0502040204020203" pitchFamily="34" charset="0"/>
                            <a:ea typeface="+mn-ea"/>
                            <a:cs typeface="Segoe UI Light" panose="020B0502040204020203" pitchFamily="34" charset="0"/>
                          </a:endParaRPr>
                        </a:p>
                      </a:txBody>
                      <a:tcPr marL="0" marR="64770" marT="50165" marB="50165">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marL="0" marR="64770" marT="50165" marB="50165">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3"/>
                          <a:stretch>
                            <a:fillRect l="-499194" t="-94643" r="-1613" b="-298214"/>
                          </a:stretch>
                        </a:blipFill>
                      </a:tcPr>
                    </a:tc>
                    <a:extLst>
                      <a:ext uri="{0D108BD9-81ED-4DB2-BD59-A6C34878D82A}">
                        <a16:rowId xmlns:a16="http://schemas.microsoft.com/office/drawing/2014/main" val="10001"/>
                      </a:ext>
                    </a:extLst>
                  </a:tr>
                  <a:tr h="506774">
                    <a:tc>
                      <a:txBody>
                        <a:bodyPr/>
                        <a:lstStyle/>
                        <a:p>
                          <a:pPr marL="0" algn="ctr" defTabSz="2138324" rtl="0" eaLnBrk="1" latinLnBrk="0" hangingPunct="1">
                            <a:lnSpc>
                              <a:spcPct val="100000"/>
                            </a:lnSpc>
                            <a:spcAft>
                              <a:spcPts val="0"/>
                            </a:spcAft>
                          </a:pPr>
                          <a:r>
                            <a:rPr lang="en-GB" sz="2000" b="0" kern="1200">
                              <a:solidFill>
                                <a:schemeClr val="tx1"/>
                              </a:solidFill>
                              <a:effectLst/>
                              <a:latin typeface="Segoe UI Light" panose="020B0502040204020203" pitchFamily="34" charset="0"/>
                              <a:ea typeface="+mn-ea"/>
                              <a:cs typeface="Segoe UI Light" panose="020B0502040204020203" pitchFamily="34" charset="0"/>
                            </a:rPr>
                            <a:t>50</a:t>
                          </a:r>
                        </a:p>
                      </a:txBody>
                      <a:tcPr marL="0" marR="64770" marT="17780" marB="17780">
                        <a:lnT w="38100" cap="flat" cmpd="sng" algn="ctr">
                          <a:solidFill>
                            <a:schemeClr val="tx1"/>
                          </a:solidFill>
                          <a:prstDash val="solid"/>
                          <a:round/>
                          <a:headEnd type="none" w="med" len="med"/>
                          <a:tailEnd type="none" w="med" len="med"/>
                        </a:lnT>
                      </a:tcPr>
                    </a:tc>
                    <a:tc>
                      <a:txBody>
                        <a:bodyPr/>
                        <a:lstStyle/>
                        <a:p>
                          <a:pPr marL="0" algn="ctr" defTabSz="2138324" rtl="0" eaLnBrk="1" latinLnBrk="0" hangingPunct="1">
                            <a:lnSpc>
                              <a:spcPct val="100000"/>
                            </a:lnSpc>
                            <a:spcAft>
                              <a:spcPts val="0"/>
                            </a:spcAft>
                          </a:pPr>
                          <a:r>
                            <a:rPr lang="en-GB" sz="2000" b="0" kern="1200" dirty="0">
                              <a:solidFill>
                                <a:schemeClr val="tx1"/>
                              </a:solidFill>
                              <a:effectLst/>
                              <a:latin typeface="Segoe UI Light" panose="020B0502040204020203" pitchFamily="34" charset="0"/>
                              <a:ea typeface="+mn-ea"/>
                              <a:cs typeface="Segoe UI Light" panose="020B0502040204020203" pitchFamily="34" charset="0"/>
                            </a:rPr>
                            <a:t>65</a:t>
                          </a:r>
                        </a:p>
                      </a:txBody>
                      <a:tcPr marL="0" marR="64770" marT="17780" marB="17780">
                        <a:lnT w="38100" cap="flat" cmpd="sng" algn="ctr">
                          <a:solidFill>
                            <a:schemeClr val="tx1"/>
                          </a:solidFill>
                          <a:prstDash val="solid"/>
                          <a:round/>
                          <a:headEnd type="none" w="med" len="med"/>
                          <a:tailEnd type="none" w="med" len="med"/>
                        </a:lnT>
                      </a:tcPr>
                    </a:tc>
                    <a:tc>
                      <a:txBody>
                        <a:bodyPr/>
                        <a:lstStyle/>
                        <a:p>
                          <a:pPr marL="0" algn="ctr" defTabSz="2138324" rtl="0" eaLnBrk="1" latinLnBrk="0" hangingPunct="1">
                            <a:lnSpc>
                              <a:spcPct val="100000"/>
                            </a:lnSpc>
                            <a:spcAft>
                              <a:spcPts val="0"/>
                            </a:spcAft>
                          </a:pPr>
                          <a:r>
                            <a:rPr lang="en-GB" sz="2000" b="0" kern="1200" dirty="0">
                              <a:solidFill>
                                <a:schemeClr val="tx1"/>
                              </a:solidFill>
                              <a:effectLst/>
                              <a:latin typeface="Segoe UI Light" panose="020B0502040204020203" pitchFamily="34" charset="0"/>
                              <a:ea typeface="+mn-ea"/>
                              <a:cs typeface="Segoe UI Light" panose="020B0502040204020203" pitchFamily="34" charset="0"/>
                            </a:rPr>
                            <a:t>Coffee</a:t>
                          </a:r>
                        </a:p>
                      </a:txBody>
                      <a:tcPr marL="0" marR="0" marT="17780" marB="17780">
                        <a:lnT w="38100" cap="flat" cmpd="sng" algn="ctr">
                          <a:solidFill>
                            <a:schemeClr val="tx1"/>
                          </a:solidFill>
                          <a:prstDash val="solid"/>
                          <a:round/>
                          <a:headEnd type="none" w="med" len="med"/>
                          <a:tailEnd type="none" w="med" len="med"/>
                        </a:lnT>
                      </a:tcPr>
                    </a:tc>
                    <a:tc>
                      <a:txBody>
                        <a:bodyPr/>
                        <a:lstStyle/>
                        <a:p>
                          <a:pPr marL="0" algn="ctr" defTabSz="2138324" rtl="0" eaLnBrk="1" latinLnBrk="0" hangingPunct="1">
                            <a:lnSpc>
                              <a:spcPct val="100000"/>
                            </a:lnSpc>
                            <a:spcAft>
                              <a:spcPts val="0"/>
                            </a:spcAft>
                          </a:pPr>
                          <a:r>
                            <a:rPr lang="en-GB" sz="2000" b="0" kern="1200" dirty="0">
                              <a:solidFill>
                                <a:schemeClr val="tx1"/>
                              </a:solidFill>
                              <a:effectLst/>
                              <a:latin typeface="Segoe UI Light" panose="020B0502040204020203" pitchFamily="34" charset="0"/>
                              <a:ea typeface="+mn-ea"/>
                              <a:cs typeface="Segoe UI Light" panose="020B0502040204020203" pitchFamily="34" charset="0"/>
                            </a:rPr>
                            <a:t>66</a:t>
                          </a:r>
                        </a:p>
                      </a:txBody>
                      <a:tcPr marL="0" marR="64770" marT="17780" marB="17780">
                        <a:lnT w="38100" cap="flat" cmpd="sng" algn="ctr">
                          <a:solidFill>
                            <a:schemeClr val="tx1"/>
                          </a:solidFill>
                          <a:prstDash val="solid"/>
                          <a:round/>
                          <a:headEnd type="none" w="med" len="med"/>
                          <a:tailEnd type="none" w="med" len="med"/>
                        </a:lnT>
                      </a:tcPr>
                    </a:tc>
                    <a:tc>
                      <a:txBody>
                        <a:bodyPr/>
                        <a:lstStyle/>
                        <a:p>
                          <a:pPr marL="0" algn="ctr" defTabSz="2138324" rtl="0" eaLnBrk="1" latinLnBrk="0" hangingPunct="1">
                            <a:lnSpc>
                              <a:spcPct val="100000"/>
                            </a:lnSpc>
                            <a:spcAft>
                              <a:spcPts val="0"/>
                            </a:spcAft>
                          </a:pPr>
                          <a:r>
                            <a:rPr lang="en-GB" sz="2000" b="0" kern="1200">
                              <a:solidFill>
                                <a:schemeClr val="tx1"/>
                              </a:solidFill>
                              <a:effectLst/>
                              <a:latin typeface="Segoe UI Light" panose="020B0502040204020203" pitchFamily="34" charset="0"/>
                              <a:ea typeface="+mn-ea"/>
                              <a:cs typeface="Segoe UI Light" panose="020B0502040204020203" pitchFamily="34" charset="0"/>
                            </a:rPr>
                            <a:t>0.15</a:t>
                          </a:r>
                        </a:p>
                      </a:txBody>
                      <a:tcPr marL="0" marR="64770" marT="17780" marB="17780">
                        <a:lnT w="38100" cap="flat" cmpd="sng" algn="ctr">
                          <a:solidFill>
                            <a:schemeClr val="tx1"/>
                          </a:solidFill>
                          <a:prstDash val="solid"/>
                          <a:round/>
                          <a:headEnd type="none" w="med" len="med"/>
                          <a:tailEnd type="none" w="med" len="med"/>
                        </a:lnT>
                      </a:tcPr>
                    </a:tc>
                    <a:tc>
                      <a:txBody>
                        <a:bodyPr/>
                        <a:lstStyle/>
                        <a:p>
                          <a:pPr marL="0" algn="ctr" defTabSz="2138324" rtl="0" eaLnBrk="1" latinLnBrk="0" hangingPunct="1">
                            <a:lnSpc>
                              <a:spcPct val="100000"/>
                            </a:lnSpc>
                            <a:spcAft>
                              <a:spcPts val="0"/>
                            </a:spcAft>
                          </a:pPr>
                          <a:r>
                            <a:rPr lang="en-GB" sz="2000" b="0" kern="1200">
                              <a:solidFill>
                                <a:schemeClr val="tx1"/>
                              </a:solidFill>
                              <a:effectLst/>
                              <a:latin typeface="Segoe UI Light" panose="020B0502040204020203" pitchFamily="34" charset="0"/>
                              <a:ea typeface="+mn-ea"/>
                              <a:cs typeface="Segoe UI Light" panose="020B0502040204020203" pitchFamily="34" charset="0"/>
                            </a:rPr>
                            <a:t>137</a:t>
                          </a:r>
                        </a:p>
                      </a:txBody>
                      <a:tcPr marL="0" marR="64770" marT="17780" marB="17780">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3"/>
                      </a:ext>
                    </a:extLst>
                  </a:tr>
                  <a:tr h="506774">
                    <a:tc>
                      <a:txBody>
                        <a:bodyPr/>
                        <a:lstStyle/>
                        <a:p>
                          <a:pPr marL="0" algn="ctr" defTabSz="2138324" rtl="0" eaLnBrk="1" latinLnBrk="0" hangingPunct="1">
                            <a:lnSpc>
                              <a:spcPct val="100000"/>
                            </a:lnSpc>
                            <a:spcAft>
                              <a:spcPts val="0"/>
                            </a:spcAft>
                          </a:pPr>
                          <a:r>
                            <a:rPr lang="en-GB" sz="2000" b="0" kern="1200">
                              <a:solidFill>
                                <a:schemeClr val="tx1"/>
                              </a:solidFill>
                              <a:effectLst/>
                              <a:latin typeface="Segoe UI Light" panose="020B0502040204020203" pitchFamily="34" charset="0"/>
                              <a:ea typeface="+mn-ea"/>
                              <a:cs typeface="Segoe UI Light" panose="020B0502040204020203" pitchFamily="34" charset="0"/>
                            </a:rPr>
                            <a:t>60</a:t>
                          </a:r>
                        </a:p>
                      </a:txBody>
                      <a:tcPr marL="0" marR="64770" marT="17780" marB="17780">
                        <a:noFill/>
                      </a:tcPr>
                    </a:tc>
                    <a:tc>
                      <a:txBody>
                        <a:bodyPr/>
                        <a:lstStyle/>
                        <a:p>
                          <a:pPr marL="0" algn="ctr" defTabSz="2138324" rtl="0" eaLnBrk="1" latinLnBrk="0" hangingPunct="1">
                            <a:lnSpc>
                              <a:spcPct val="100000"/>
                            </a:lnSpc>
                            <a:spcAft>
                              <a:spcPts val="0"/>
                            </a:spcAft>
                          </a:pPr>
                          <a:r>
                            <a:rPr lang="en-GB" sz="2000" b="0" kern="1200" dirty="0">
                              <a:solidFill>
                                <a:schemeClr val="tx1"/>
                              </a:solidFill>
                              <a:effectLst/>
                              <a:latin typeface="Segoe UI Light" panose="020B0502040204020203" pitchFamily="34" charset="0"/>
                              <a:ea typeface="+mn-ea"/>
                              <a:cs typeface="Segoe UI Light" panose="020B0502040204020203" pitchFamily="34" charset="0"/>
                            </a:rPr>
                            <a:t>90</a:t>
                          </a:r>
                        </a:p>
                      </a:txBody>
                      <a:tcPr marL="0" marR="64770" marT="17780" marB="17780">
                        <a:noFill/>
                      </a:tcPr>
                    </a:tc>
                    <a:tc>
                      <a:txBody>
                        <a:bodyPr/>
                        <a:lstStyle/>
                        <a:p>
                          <a:pPr marL="0" algn="ctr" defTabSz="2138324" rtl="0" eaLnBrk="1" latinLnBrk="0" hangingPunct="1">
                            <a:lnSpc>
                              <a:spcPct val="100000"/>
                            </a:lnSpc>
                            <a:spcAft>
                              <a:spcPts val="0"/>
                            </a:spcAft>
                          </a:pPr>
                          <a:r>
                            <a:rPr lang="en-GB" sz="2000" b="0" kern="1200">
                              <a:solidFill>
                                <a:schemeClr val="tx1"/>
                              </a:solidFill>
                              <a:effectLst/>
                              <a:latin typeface="Segoe UI Light" panose="020B0502040204020203" pitchFamily="34" charset="0"/>
                              <a:ea typeface="+mn-ea"/>
                              <a:cs typeface="Segoe UI Light" panose="020B0502040204020203" pitchFamily="34" charset="0"/>
                            </a:rPr>
                            <a:t>Salt</a:t>
                          </a:r>
                        </a:p>
                      </a:txBody>
                      <a:tcPr marL="0" marR="0" marT="17780" marB="17780">
                        <a:noFill/>
                      </a:tcPr>
                    </a:tc>
                    <a:tc>
                      <a:txBody>
                        <a:bodyPr/>
                        <a:lstStyle/>
                        <a:p>
                          <a:pPr marL="0" algn="ctr" defTabSz="2138324" rtl="0" eaLnBrk="1" latinLnBrk="0" hangingPunct="1">
                            <a:lnSpc>
                              <a:spcPct val="100000"/>
                            </a:lnSpc>
                            <a:spcAft>
                              <a:spcPts val="0"/>
                            </a:spcAft>
                          </a:pPr>
                          <a:r>
                            <a:rPr lang="en-GB" sz="2000" b="0" kern="1200" dirty="0">
                              <a:solidFill>
                                <a:schemeClr val="tx1"/>
                              </a:solidFill>
                              <a:effectLst/>
                              <a:latin typeface="Segoe UI Light" panose="020B0502040204020203" pitchFamily="34" charset="0"/>
                              <a:ea typeface="+mn-ea"/>
                              <a:cs typeface="Segoe UI Light" panose="020B0502040204020203" pitchFamily="34" charset="0"/>
                            </a:rPr>
                            <a:t>159</a:t>
                          </a:r>
                        </a:p>
                      </a:txBody>
                      <a:tcPr marL="0" marR="64770" marT="17780" marB="17780">
                        <a:noFill/>
                      </a:tcPr>
                    </a:tc>
                    <a:tc>
                      <a:txBody>
                        <a:bodyPr/>
                        <a:lstStyle/>
                        <a:p>
                          <a:pPr marL="0" algn="ctr" defTabSz="2138324" rtl="0" eaLnBrk="1" latinLnBrk="0" hangingPunct="1">
                            <a:lnSpc>
                              <a:spcPct val="100000"/>
                            </a:lnSpc>
                            <a:spcAft>
                              <a:spcPts val="0"/>
                            </a:spcAft>
                          </a:pPr>
                          <a:r>
                            <a:rPr lang="en-GB" sz="2000" b="0" kern="1200" dirty="0">
                              <a:solidFill>
                                <a:schemeClr val="tx1"/>
                              </a:solidFill>
                              <a:effectLst/>
                              <a:latin typeface="Segoe UI Light" panose="020B0502040204020203" pitchFamily="34" charset="0"/>
                              <a:ea typeface="+mn-ea"/>
                              <a:cs typeface="Segoe UI Light" panose="020B0502040204020203" pitchFamily="34" charset="0"/>
                            </a:rPr>
                            <a:t>0.20</a:t>
                          </a:r>
                        </a:p>
                      </a:txBody>
                      <a:tcPr marL="0" marR="64770" marT="17780" marB="17780">
                        <a:noFill/>
                      </a:tcPr>
                    </a:tc>
                    <a:tc>
                      <a:txBody>
                        <a:bodyPr/>
                        <a:lstStyle/>
                        <a:p>
                          <a:pPr marL="0" algn="ctr" defTabSz="2138324" rtl="0" eaLnBrk="1" latinLnBrk="0" hangingPunct="1">
                            <a:lnSpc>
                              <a:spcPct val="100000"/>
                            </a:lnSpc>
                            <a:spcAft>
                              <a:spcPts val="0"/>
                            </a:spcAft>
                          </a:pPr>
                          <a:r>
                            <a:rPr lang="en-GB" sz="2000" b="0" kern="1200">
                              <a:solidFill>
                                <a:schemeClr val="tx1"/>
                              </a:solidFill>
                              <a:effectLst/>
                              <a:latin typeface="Segoe UI Light" panose="020B0502040204020203" pitchFamily="34" charset="0"/>
                              <a:ea typeface="+mn-ea"/>
                              <a:cs typeface="Segoe UI Light" panose="020B0502040204020203" pitchFamily="34" charset="0"/>
                            </a:rPr>
                            <a:t>154</a:t>
                          </a:r>
                        </a:p>
                      </a:txBody>
                      <a:tcPr marL="0" marR="64770" marT="17780" marB="17780">
                        <a:noFill/>
                      </a:tcPr>
                    </a:tc>
                    <a:extLst>
                      <a:ext uri="{0D108BD9-81ED-4DB2-BD59-A6C34878D82A}">
                        <a16:rowId xmlns:a16="http://schemas.microsoft.com/office/drawing/2014/main" val="10004"/>
                      </a:ext>
                    </a:extLst>
                  </a:tr>
                  <a:tr h="506774">
                    <a:tc>
                      <a:txBody>
                        <a:bodyPr/>
                        <a:lstStyle/>
                        <a:p>
                          <a:pPr marL="0" algn="ctr" defTabSz="2138324" rtl="0" eaLnBrk="1" latinLnBrk="0" hangingPunct="1">
                            <a:lnSpc>
                              <a:spcPct val="100000"/>
                            </a:lnSpc>
                            <a:spcAft>
                              <a:spcPts val="0"/>
                            </a:spcAft>
                          </a:pPr>
                          <a:r>
                            <a:rPr lang="en-GB" sz="2000" b="0" kern="1200">
                              <a:solidFill>
                                <a:schemeClr val="tx1"/>
                              </a:solidFill>
                              <a:effectLst/>
                              <a:latin typeface="Segoe UI Light" panose="020B0502040204020203" pitchFamily="34" charset="0"/>
                              <a:ea typeface="+mn-ea"/>
                              <a:cs typeface="Segoe UI Light" panose="020B0502040204020203" pitchFamily="34" charset="0"/>
                            </a:rPr>
                            <a:t>70</a:t>
                          </a:r>
                        </a:p>
                      </a:txBody>
                      <a:tcPr marL="0" marR="64770" marT="17780" marB="17780"/>
                    </a:tc>
                    <a:tc>
                      <a:txBody>
                        <a:bodyPr/>
                        <a:lstStyle/>
                        <a:p>
                          <a:pPr marL="0" algn="ctr" defTabSz="2138324" rtl="0" eaLnBrk="1" latinLnBrk="0" hangingPunct="1">
                            <a:lnSpc>
                              <a:spcPct val="100000"/>
                            </a:lnSpc>
                            <a:spcAft>
                              <a:spcPts val="0"/>
                            </a:spcAft>
                          </a:pPr>
                          <a:r>
                            <a:rPr lang="en-US" sz="2000" b="0" kern="1200">
                              <a:solidFill>
                                <a:schemeClr val="tx1"/>
                              </a:solidFill>
                              <a:effectLst/>
                              <a:latin typeface="Segoe UI Light" panose="020B0502040204020203" pitchFamily="34" charset="0"/>
                              <a:ea typeface="+mn-ea"/>
                              <a:cs typeface="Segoe UI Light" panose="020B0502040204020203" pitchFamily="34" charset="0"/>
                            </a:rPr>
                            <a:t>133</a:t>
                          </a:r>
                          <a:endParaRPr lang="en-GB" sz="2000" b="0" kern="1200">
                            <a:solidFill>
                              <a:schemeClr val="tx1"/>
                            </a:solidFill>
                            <a:effectLst/>
                            <a:latin typeface="Segoe UI Light" panose="020B0502040204020203" pitchFamily="34" charset="0"/>
                            <a:ea typeface="+mn-ea"/>
                            <a:cs typeface="Segoe UI Light" panose="020B0502040204020203" pitchFamily="34" charset="0"/>
                          </a:endParaRPr>
                        </a:p>
                      </a:txBody>
                      <a:tcPr marL="0" marR="64770" marT="17780" marB="17780"/>
                    </a:tc>
                    <a:tc>
                      <a:txBody>
                        <a:bodyPr/>
                        <a:lstStyle/>
                        <a:p>
                          <a:pPr marL="0" algn="ctr" defTabSz="2138324" rtl="0" eaLnBrk="1" latinLnBrk="0" hangingPunct="1">
                            <a:lnSpc>
                              <a:spcPct val="100000"/>
                            </a:lnSpc>
                            <a:spcAft>
                              <a:spcPts val="0"/>
                            </a:spcAft>
                          </a:pPr>
                          <a:r>
                            <a:rPr lang="en-GB" sz="2000" b="0" kern="1200">
                              <a:solidFill>
                                <a:schemeClr val="tx1"/>
                              </a:solidFill>
                              <a:effectLst/>
                              <a:latin typeface="Segoe UI Light" panose="020B0502040204020203" pitchFamily="34" charset="0"/>
                              <a:ea typeface="+mn-ea"/>
                              <a:cs typeface="Segoe UI Light" panose="020B0502040204020203" pitchFamily="34" charset="0"/>
                            </a:rPr>
                            <a:t>Coffee + salt</a:t>
                          </a:r>
                        </a:p>
                      </a:txBody>
                      <a:tcPr marL="0" marR="0" marT="17780" marB="17780"/>
                    </a:tc>
                    <a:tc>
                      <a:txBody>
                        <a:bodyPr/>
                        <a:lstStyle/>
                        <a:p>
                          <a:pPr marL="0" algn="ctr" defTabSz="2138324" rtl="0" eaLnBrk="1" latinLnBrk="0" hangingPunct="1">
                            <a:lnSpc>
                              <a:spcPct val="100000"/>
                            </a:lnSpc>
                            <a:spcAft>
                              <a:spcPts val="0"/>
                            </a:spcAft>
                          </a:pPr>
                          <a:r>
                            <a:rPr lang="en-US" sz="2000" b="0" kern="1200" dirty="0">
                              <a:solidFill>
                                <a:schemeClr val="tx1"/>
                              </a:solidFill>
                              <a:effectLst/>
                              <a:latin typeface="Segoe UI Light" panose="020B0502040204020203" pitchFamily="34" charset="0"/>
                              <a:ea typeface="+mn-ea"/>
                              <a:cs typeface="Segoe UI Light" panose="020B0502040204020203" pitchFamily="34" charset="0"/>
                            </a:rPr>
                            <a:t>77</a:t>
                          </a:r>
                          <a:endParaRPr lang="en-GB" sz="2000" b="0" kern="1200" dirty="0">
                            <a:solidFill>
                              <a:schemeClr val="tx1"/>
                            </a:solidFill>
                            <a:effectLst/>
                            <a:latin typeface="Segoe UI Light" panose="020B0502040204020203" pitchFamily="34" charset="0"/>
                            <a:ea typeface="+mn-ea"/>
                            <a:cs typeface="Segoe UI Light" panose="020B0502040204020203" pitchFamily="34" charset="0"/>
                          </a:endParaRPr>
                        </a:p>
                      </a:txBody>
                      <a:tcPr marL="0" marR="64770" marT="17780" marB="17780"/>
                    </a:tc>
                    <a:tc>
                      <a:txBody>
                        <a:bodyPr/>
                        <a:lstStyle/>
                        <a:p>
                          <a:pPr marL="0" algn="ctr" defTabSz="2138324" rtl="0" eaLnBrk="1" latinLnBrk="0" hangingPunct="1">
                            <a:lnSpc>
                              <a:spcPct val="100000"/>
                            </a:lnSpc>
                            <a:spcAft>
                              <a:spcPts val="0"/>
                            </a:spcAft>
                          </a:pPr>
                          <a:r>
                            <a:rPr lang="en-GB" sz="2000" b="0" kern="1200" dirty="0">
                              <a:solidFill>
                                <a:schemeClr val="tx1"/>
                              </a:solidFill>
                              <a:effectLst/>
                              <a:latin typeface="Segoe UI Light" panose="020B0502040204020203" pitchFamily="34" charset="0"/>
                              <a:ea typeface="+mn-ea"/>
                              <a:cs typeface="Segoe UI Light" panose="020B0502040204020203" pitchFamily="34" charset="0"/>
                            </a:rPr>
                            <a:t>0.25</a:t>
                          </a:r>
                        </a:p>
                      </a:txBody>
                      <a:tcPr marL="0" marR="64770" marT="17780" marB="17780"/>
                    </a:tc>
                    <a:tc>
                      <a:txBody>
                        <a:bodyPr/>
                        <a:lstStyle/>
                        <a:p>
                          <a:pPr marL="0" algn="ctr" defTabSz="2138324" rtl="0" eaLnBrk="1" latinLnBrk="0" hangingPunct="1">
                            <a:lnSpc>
                              <a:spcPct val="100000"/>
                            </a:lnSpc>
                            <a:spcAft>
                              <a:spcPts val="0"/>
                            </a:spcAft>
                          </a:pPr>
                          <a:r>
                            <a:rPr lang="en-US" sz="2000" b="0" kern="1200">
                              <a:solidFill>
                                <a:schemeClr val="tx1"/>
                              </a:solidFill>
                              <a:effectLst/>
                              <a:latin typeface="Segoe UI Light" panose="020B0502040204020203" pitchFamily="34" charset="0"/>
                              <a:ea typeface="+mn-ea"/>
                              <a:cs typeface="Segoe UI Light" panose="020B0502040204020203" pitchFamily="34" charset="0"/>
                            </a:rPr>
                            <a:t>70</a:t>
                          </a:r>
                          <a:endParaRPr lang="en-GB" sz="2000" b="0" kern="1200">
                            <a:solidFill>
                              <a:schemeClr val="tx1"/>
                            </a:solidFill>
                            <a:effectLst/>
                            <a:latin typeface="Segoe UI Light" panose="020B0502040204020203" pitchFamily="34" charset="0"/>
                            <a:ea typeface="+mn-ea"/>
                            <a:cs typeface="Segoe UI Light" panose="020B0502040204020203" pitchFamily="34" charset="0"/>
                          </a:endParaRPr>
                        </a:p>
                      </a:txBody>
                      <a:tcPr marL="0" marR="64770" marT="17780" marB="17780"/>
                    </a:tc>
                    <a:extLst>
                      <a:ext uri="{0D108BD9-81ED-4DB2-BD59-A6C34878D82A}">
                        <a16:rowId xmlns:a16="http://schemas.microsoft.com/office/drawing/2014/main" val="10005"/>
                      </a:ext>
                    </a:extLst>
                  </a:tr>
                  <a:tr h="506774">
                    <a:tc>
                      <a:txBody>
                        <a:bodyPr/>
                        <a:lstStyle/>
                        <a:p>
                          <a:pPr marL="0" algn="ctr" defTabSz="2138324" rtl="0" eaLnBrk="1" latinLnBrk="0" hangingPunct="1">
                            <a:lnSpc>
                              <a:spcPct val="100000"/>
                            </a:lnSpc>
                            <a:spcAft>
                              <a:spcPts val="0"/>
                            </a:spcAft>
                          </a:pPr>
                          <a:r>
                            <a:rPr lang="en-US" sz="2000" b="0" kern="1200">
                              <a:solidFill>
                                <a:schemeClr val="tx1"/>
                              </a:solidFill>
                              <a:effectLst/>
                              <a:latin typeface="Segoe UI Light" panose="020B0502040204020203" pitchFamily="34" charset="0"/>
                              <a:ea typeface="+mn-ea"/>
                              <a:cs typeface="Segoe UI Light" panose="020B0502040204020203" pitchFamily="34" charset="0"/>
                            </a:rPr>
                            <a:t> </a:t>
                          </a:r>
                          <a:endParaRPr lang="en-GB" sz="2000" b="0" kern="1200">
                            <a:solidFill>
                              <a:schemeClr val="tx1"/>
                            </a:solidFill>
                            <a:effectLst/>
                            <a:latin typeface="Segoe UI Light" panose="020B0502040204020203" pitchFamily="34" charset="0"/>
                            <a:ea typeface="+mn-ea"/>
                            <a:cs typeface="Segoe UI Light" panose="020B0502040204020203" pitchFamily="34" charset="0"/>
                          </a:endParaRPr>
                        </a:p>
                      </a:txBody>
                      <a:tcPr marL="0" marR="64770" marT="17780" marB="17780">
                        <a:noFill/>
                      </a:tcPr>
                    </a:tc>
                    <a:tc>
                      <a:txBody>
                        <a:bodyPr/>
                        <a:lstStyle/>
                        <a:p>
                          <a:pPr marL="0" algn="ctr" defTabSz="2138324" rtl="0" eaLnBrk="1" latinLnBrk="0" hangingPunct="1">
                            <a:lnSpc>
                              <a:spcPct val="100000"/>
                            </a:lnSpc>
                            <a:spcAft>
                              <a:spcPts val="0"/>
                            </a:spcAft>
                          </a:pPr>
                          <a:r>
                            <a:rPr lang="en-US" sz="2000" b="0" kern="1200">
                              <a:solidFill>
                                <a:schemeClr val="tx1"/>
                              </a:solidFill>
                              <a:effectLst/>
                              <a:latin typeface="Segoe UI Light" panose="020B0502040204020203" pitchFamily="34" charset="0"/>
                              <a:ea typeface="+mn-ea"/>
                              <a:cs typeface="Segoe UI Light" panose="020B0502040204020203" pitchFamily="34" charset="0"/>
                            </a:rPr>
                            <a:t> </a:t>
                          </a:r>
                          <a:endParaRPr lang="en-GB" sz="2000" b="0" kern="1200">
                            <a:solidFill>
                              <a:schemeClr val="tx1"/>
                            </a:solidFill>
                            <a:effectLst/>
                            <a:latin typeface="Segoe UI Light" panose="020B0502040204020203" pitchFamily="34" charset="0"/>
                            <a:ea typeface="+mn-ea"/>
                            <a:cs typeface="Segoe UI Light" panose="020B0502040204020203" pitchFamily="34" charset="0"/>
                          </a:endParaRPr>
                        </a:p>
                      </a:txBody>
                      <a:tcPr marL="0" marR="64770" marT="17780" marB="17780">
                        <a:noFill/>
                      </a:tcPr>
                    </a:tc>
                    <a:tc>
                      <a:txBody>
                        <a:bodyPr/>
                        <a:lstStyle/>
                        <a:p>
                          <a:pPr marL="0" algn="ctr" defTabSz="2138324" rtl="0" eaLnBrk="1" latinLnBrk="0" hangingPunct="1">
                            <a:lnSpc>
                              <a:spcPct val="100000"/>
                            </a:lnSpc>
                            <a:spcAft>
                              <a:spcPts val="0"/>
                            </a:spcAft>
                          </a:pPr>
                          <a:r>
                            <a:rPr lang="en-GB" sz="2000" b="0" kern="1200">
                              <a:solidFill>
                                <a:schemeClr val="tx1"/>
                              </a:solidFill>
                              <a:effectLst/>
                              <a:latin typeface="Segoe UI Light" panose="020B0502040204020203" pitchFamily="34" charset="0"/>
                              <a:ea typeface="+mn-ea"/>
                              <a:cs typeface="Segoe UI Light" panose="020B0502040204020203" pitchFamily="34" charset="0"/>
                            </a:rPr>
                            <a:t>Sugar</a:t>
                          </a:r>
                        </a:p>
                      </a:txBody>
                      <a:tcPr marL="0" marR="0" marT="17780" marB="17780">
                        <a:noFill/>
                      </a:tcPr>
                    </a:tc>
                    <a:tc>
                      <a:txBody>
                        <a:bodyPr/>
                        <a:lstStyle/>
                        <a:p>
                          <a:pPr marL="0" algn="ctr" defTabSz="2138324" rtl="0" eaLnBrk="1" latinLnBrk="0" hangingPunct="1">
                            <a:lnSpc>
                              <a:spcPct val="100000"/>
                            </a:lnSpc>
                            <a:spcAft>
                              <a:spcPts val="0"/>
                            </a:spcAft>
                          </a:pPr>
                          <a:r>
                            <a:rPr lang="en-US" sz="2000" b="0" kern="1200">
                              <a:solidFill>
                                <a:schemeClr val="tx1"/>
                              </a:solidFill>
                              <a:effectLst/>
                              <a:latin typeface="Segoe UI Light" panose="020B0502040204020203" pitchFamily="34" charset="0"/>
                              <a:ea typeface="+mn-ea"/>
                              <a:cs typeface="Segoe UI Light" panose="020B0502040204020203" pitchFamily="34" charset="0"/>
                            </a:rPr>
                            <a:t>227</a:t>
                          </a:r>
                          <a:endParaRPr lang="en-GB" sz="2000" b="0" kern="1200">
                            <a:solidFill>
                              <a:schemeClr val="tx1"/>
                            </a:solidFill>
                            <a:effectLst/>
                            <a:latin typeface="Segoe UI Light" panose="020B0502040204020203" pitchFamily="34" charset="0"/>
                            <a:ea typeface="+mn-ea"/>
                            <a:cs typeface="Segoe UI Light" panose="020B0502040204020203" pitchFamily="34" charset="0"/>
                          </a:endParaRPr>
                        </a:p>
                      </a:txBody>
                      <a:tcPr marL="0" marR="64770" marT="17780" marB="17780">
                        <a:noFill/>
                      </a:tcPr>
                    </a:tc>
                    <a:tc>
                      <a:txBody>
                        <a:bodyPr/>
                        <a:lstStyle/>
                        <a:p>
                          <a:pPr marL="0" algn="ctr" defTabSz="2138324" rtl="0" eaLnBrk="1" latinLnBrk="0" hangingPunct="1">
                            <a:lnSpc>
                              <a:spcPct val="100000"/>
                            </a:lnSpc>
                            <a:spcAft>
                              <a:spcPts val="0"/>
                            </a:spcAft>
                          </a:pPr>
                          <a:r>
                            <a:rPr lang="en-US" sz="2000" b="0" kern="1200" dirty="0">
                              <a:solidFill>
                                <a:schemeClr val="tx1"/>
                              </a:solidFill>
                              <a:effectLst/>
                              <a:latin typeface="Segoe UI Light" panose="020B0502040204020203" pitchFamily="34" charset="0"/>
                              <a:ea typeface="+mn-ea"/>
                              <a:cs typeface="Segoe UI Light" panose="020B0502040204020203" pitchFamily="34" charset="0"/>
                            </a:rPr>
                            <a:t> </a:t>
                          </a:r>
                          <a:endParaRPr lang="en-GB" sz="2000" b="0" kern="1200" dirty="0">
                            <a:solidFill>
                              <a:schemeClr val="tx1"/>
                            </a:solidFill>
                            <a:effectLst/>
                            <a:latin typeface="Segoe UI Light" panose="020B0502040204020203" pitchFamily="34" charset="0"/>
                            <a:ea typeface="+mn-ea"/>
                            <a:cs typeface="Segoe UI Light" panose="020B0502040204020203" pitchFamily="34" charset="0"/>
                          </a:endParaRPr>
                        </a:p>
                      </a:txBody>
                      <a:tcPr marL="0" marR="64770" marT="17780" marB="17780">
                        <a:noFill/>
                      </a:tcPr>
                    </a:tc>
                    <a:tc>
                      <a:txBody>
                        <a:bodyPr/>
                        <a:lstStyle/>
                        <a:p>
                          <a:pPr marL="0" algn="ctr" defTabSz="2138324" rtl="0" eaLnBrk="1" latinLnBrk="0" hangingPunct="1">
                            <a:lnSpc>
                              <a:spcPct val="100000"/>
                            </a:lnSpc>
                            <a:spcAft>
                              <a:spcPts val="0"/>
                            </a:spcAft>
                          </a:pPr>
                          <a:r>
                            <a:rPr lang="en-US" sz="2000" b="0" kern="1200" dirty="0">
                              <a:solidFill>
                                <a:schemeClr val="tx1"/>
                              </a:solidFill>
                              <a:effectLst/>
                              <a:latin typeface="Segoe UI Light" panose="020B0502040204020203" pitchFamily="34" charset="0"/>
                              <a:ea typeface="+mn-ea"/>
                              <a:cs typeface="Segoe UI Light" panose="020B0502040204020203" pitchFamily="34" charset="0"/>
                            </a:rPr>
                            <a:t> </a:t>
                          </a:r>
                          <a:endParaRPr lang="en-GB" sz="2000" b="0" kern="1200" dirty="0">
                            <a:solidFill>
                              <a:schemeClr val="tx1"/>
                            </a:solidFill>
                            <a:effectLst/>
                            <a:latin typeface="Segoe UI Light" panose="020B0502040204020203" pitchFamily="34" charset="0"/>
                            <a:ea typeface="+mn-ea"/>
                            <a:cs typeface="Segoe UI Light" panose="020B0502040204020203" pitchFamily="34" charset="0"/>
                          </a:endParaRPr>
                        </a:p>
                      </a:txBody>
                      <a:tcPr marL="0" marR="64770" marT="17780" marB="17780">
                        <a:noFill/>
                      </a:tcPr>
                    </a:tc>
                    <a:extLst>
                      <a:ext uri="{0D108BD9-81ED-4DB2-BD59-A6C34878D82A}">
                        <a16:rowId xmlns:a16="http://schemas.microsoft.com/office/drawing/2014/main" val="10006"/>
                      </a:ext>
                    </a:extLst>
                  </a:tr>
                </a:tbl>
              </a:graphicData>
            </a:graphic>
          </p:graphicFrame>
        </mc:Fallback>
      </mc:AlternateContent>
      <p:sp>
        <p:nvSpPr>
          <p:cNvPr id="180" name="TextBox 179"/>
          <p:cNvSpPr txBox="1"/>
          <p:nvPr/>
        </p:nvSpPr>
        <p:spPr>
          <a:xfrm>
            <a:off x="10907836" y="14224446"/>
            <a:ext cx="10170835" cy="830997"/>
          </a:xfrm>
          <a:prstGeom prst="rect">
            <a:avLst/>
          </a:prstGeom>
          <a:noFill/>
        </p:spPr>
        <p:txBody>
          <a:bodyPr wrap="square" lIns="0" rtlCol="0" anchor="t">
            <a:spAutoFit/>
          </a:bodyPr>
          <a:lstStyle/>
          <a:p>
            <a:pPr algn="ctr" defTabSz="678908"/>
            <a:r>
              <a:rPr lang="en-NZ" sz="2400" dirty="0">
                <a:solidFill>
                  <a:srgbClr val="565656"/>
                </a:solidFill>
                <a:latin typeface="Segoe UI Light" panose="020B0502040204020203" pitchFamily="34" charset="0"/>
                <a:cs typeface="Segoe UI Light" panose="020B0502040204020203" pitchFamily="34" charset="0"/>
              </a:rPr>
              <a:t>Table 1: Maximal gripping forces for selected filling percentages, granule types and membrane thicknesses</a:t>
            </a:r>
          </a:p>
        </p:txBody>
      </p:sp>
      <p:pic>
        <p:nvPicPr>
          <p:cNvPr id="12" name="Picture 11"/>
          <p:cNvPicPr>
            <a:picLocks noChangeAspect="1"/>
          </p:cNvPicPr>
          <p:nvPr/>
        </p:nvPicPr>
        <p:blipFill>
          <a:blip r:embed="rId4" cstate="print">
            <a:biLevel thresh="50000"/>
            <a:extLst>
              <a:ext uri="{28A0092B-C50C-407E-A947-70E740481C1C}">
                <a14:useLocalDpi xmlns:a14="http://schemas.microsoft.com/office/drawing/2010/main" val="0"/>
              </a:ext>
            </a:extLst>
          </a:blip>
          <a:stretch>
            <a:fillRect/>
          </a:stretch>
        </p:blipFill>
        <p:spPr>
          <a:xfrm>
            <a:off x="219504" y="2005537"/>
            <a:ext cx="5143716" cy="1296000"/>
          </a:xfrm>
          <a:prstGeom prst="rect">
            <a:avLst/>
          </a:prstGeom>
        </p:spPr>
      </p:pic>
      <p:sp>
        <p:nvSpPr>
          <p:cNvPr id="14" name="Rectangle 13"/>
          <p:cNvSpPr/>
          <p:nvPr/>
        </p:nvSpPr>
        <p:spPr>
          <a:xfrm>
            <a:off x="17918751" y="32248332"/>
            <a:ext cx="3147336" cy="440120"/>
          </a:xfrm>
          <a:prstGeom prst="rect">
            <a:avLst/>
          </a:prstGeom>
        </p:spPr>
        <p:txBody>
          <a:bodyPr wrap="none">
            <a:spAutoFit/>
          </a:bodyPr>
          <a:lstStyle/>
          <a:p>
            <a:pPr algn="r"/>
            <a:r>
              <a:rPr lang="de-DE" sz="2260" dirty="0">
                <a:latin typeface="Segoe UI Light" panose="020B0502040204020203" pitchFamily="34" charset="0"/>
                <a:cs typeface="Segoe UI Light" panose="020B0502040204020203" pitchFamily="34" charset="0"/>
              </a:rPr>
              <a:t>www.imt.uni-stuttgart.de</a:t>
            </a:r>
          </a:p>
        </p:txBody>
      </p:sp>
      <p:sp>
        <p:nvSpPr>
          <p:cNvPr id="707" name="Text Box 29"/>
          <p:cNvSpPr txBox="1"/>
          <p:nvPr/>
        </p:nvSpPr>
        <p:spPr>
          <a:xfrm>
            <a:off x="322660" y="28628313"/>
            <a:ext cx="4667627" cy="738664"/>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p>
            <a:pPr algn="ctr">
              <a:spcAft>
                <a:spcPts val="706"/>
              </a:spcAft>
            </a:pPr>
            <a:r>
              <a:rPr lang="en-NZ" sz="2400" dirty="0">
                <a:latin typeface="Segoe UI Light" panose="020B0502040204020203" pitchFamily="34" charset="0"/>
                <a:ea typeface="Calibri" panose="020F0502020204030204" pitchFamily="34" charset="0"/>
                <a:cs typeface="Segoe UI Light" panose="020B0502040204020203" pitchFamily="34" charset="0"/>
              </a:rPr>
              <a:t>Figure 2: Set-up for molding the latex membrane </a:t>
            </a:r>
            <a:endParaRPr lang="en-NZ" sz="2400" b="1" dirty="0">
              <a:latin typeface="Segoe UI Light" panose="020B0502040204020203" pitchFamily="34" charset="0"/>
              <a:ea typeface="Calibri" panose="020F0502020204030204" pitchFamily="34" charset="0"/>
              <a:cs typeface="Segoe UI Light" panose="020B0502040204020203" pitchFamily="34" charset="0"/>
            </a:endParaRPr>
          </a:p>
        </p:txBody>
      </p:sp>
      <p:grpSp>
        <p:nvGrpSpPr>
          <p:cNvPr id="47" name="Group 46"/>
          <p:cNvGrpSpPr/>
          <p:nvPr/>
        </p:nvGrpSpPr>
        <p:grpSpPr>
          <a:xfrm>
            <a:off x="10907836" y="8121854"/>
            <a:ext cx="10170835" cy="4996601"/>
            <a:chOff x="684265" y="5838484"/>
            <a:chExt cx="14400000" cy="7074261"/>
          </a:xfrm>
        </p:grpSpPr>
        <p:sp>
          <p:nvSpPr>
            <p:cNvPr id="48" name="TextBox 47"/>
            <p:cNvSpPr txBox="1"/>
            <p:nvPr/>
          </p:nvSpPr>
          <p:spPr>
            <a:xfrm>
              <a:off x="684265" y="5838484"/>
              <a:ext cx="14400000" cy="1082278"/>
            </a:xfrm>
            <a:prstGeom prst="rect">
              <a:avLst/>
            </a:prstGeom>
            <a:solidFill>
              <a:srgbClr val="D9D9D9"/>
            </a:solidFill>
          </p:spPr>
          <p:txBody>
            <a:bodyPr wrap="square" lIns="254271" rIns="254271" bIns="101708" rtlCol="0" anchor="ctr">
              <a:spAutoFit/>
            </a:bodyPr>
            <a:lstStyle/>
            <a:p>
              <a:pPr defTabSz="2814939">
                <a:spcBef>
                  <a:spcPct val="20000"/>
                </a:spcBef>
              </a:pPr>
              <a:r>
                <a:rPr lang="en-NZ" sz="4000" dirty="0">
                  <a:solidFill>
                    <a:srgbClr val="3E444C"/>
                  </a:solidFill>
                  <a:latin typeface="Segoe UI Light" panose="020B0502040204020203" pitchFamily="34" charset="0"/>
                  <a:cs typeface="Segoe UI Light" panose="020B0502040204020203" pitchFamily="34" charset="0"/>
                </a:rPr>
                <a:t>Results</a:t>
              </a:r>
            </a:p>
          </p:txBody>
        </p:sp>
        <p:sp>
          <p:nvSpPr>
            <p:cNvPr id="49" name="TextBox 48"/>
            <p:cNvSpPr txBox="1"/>
            <p:nvPr/>
          </p:nvSpPr>
          <p:spPr>
            <a:xfrm>
              <a:off x="684265" y="6898946"/>
              <a:ext cx="14400000" cy="6013799"/>
            </a:xfrm>
            <a:prstGeom prst="rect">
              <a:avLst/>
            </a:prstGeom>
            <a:solidFill>
              <a:srgbClr val="1BBBE9">
                <a:alpha val="5000"/>
              </a:srgbClr>
            </a:solidFill>
          </p:spPr>
          <p:txBody>
            <a:bodyPr wrap="square" lIns="254271" tIns="127135" rIns="254271" bIns="127135" rtlCol="0" anchor="t">
              <a:spAutoFit/>
            </a:bodyPr>
            <a:lstStyle/>
            <a:p>
              <a:pPr marL="403650" indent="-403650" algn="just" defTabSz="678908">
                <a:spcAft>
                  <a:spcPts val="1271"/>
                </a:spcAft>
                <a:buFont typeface="Wingdings" panose="05000000000000000000" pitchFamily="2" charset="2"/>
                <a:buChar char="§"/>
              </a:pPr>
              <a:r>
                <a:rPr lang="en-US" sz="2400" dirty="0">
                  <a:solidFill>
                    <a:srgbClr val="565656"/>
                  </a:solidFill>
                  <a:latin typeface="Segoe UI Light" panose="020B0502040204020203" pitchFamily="34" charset="0"/>
                  <a:cs typeface="Segoe UI Light" panose="020B0502040204020203" pitchFamily="34" charset="0"/>
                </a:rPr>
                <a:t>GJG with 395 mm length, 194 mm width and 158 mm height able to grip a model of the 95th percentile German adult.</a:t>
              </a:r>
            </a:p>
            <a:p>
              <a:pPr marL="403650" indent="-403650" algn="just" defTabSz="678908">
                <a:spcAft>
                  <a:spcPts val="1271"/>
                </a:spcAft>
                <a:buFont typeface="Wingdings" panose="05000000000000000000" pitchFamily="2" charset="2"/>
                <a:buChar char="§"/>
              </a:pPr>
              <a:r>
                <a:rPr lang="en-US" sz="2400" dirty="0">
                  <a:solidFill>
                    <a:srgbClr val="565656"/>
                  </a:solidFill>
                  <a:latin typeface="Segoe UI Light" panose="020B0502040204020203" pitchFamily="34" charset="0"/>
                  <a:cs typeface="Segoe UI Light" panose="020B0502040204020203" pitchFamily="34" charset="0"/>
                </a:rPr>
                <a:t>0.25 mm thick latex membrane of a capacity of 5.2 l filled to 60 % with sugar.</a:t>
              </a:r>
            </a:p>
            <a:p>
              <a:pPr marL="403650" indent="-403650" algn="just" defTabSz="678908">
                <a:spcAft>
                  <a:spcPts val="1271"/>
                </a:spcAft>
                <a:buFont typeface="Wingdings" panose="05000000000000000000" pitchFamily="2" charset="2"/>
                <a:buChar char="§"/>
              </a:pPr>
              <a:r>
                <a:rPr lang="en-US" sz="2400" dirty="0">
                  <a:solidFill>
                    <a:srgbClr val="565656"/>
                  </a:solidFill>
                  <a:latin typeface="Segoe UI Light" panose="020B0502040204020203" pitchFamily="34" charset="0"/>
                  <a:cs typeface="Segoe UI Light" panose="020B0502040204020203" pitchFamily="34" charset="0"/>
                </a:rPr>
                <a:t>Control of the GJG with a pedal attached to a separate electronics case.</a:t>
              </a:r>
            </a:p>
            <a:p>
              <a:pPr marL="403650" indent="-403650" algn="just" defTabSz="678908">
                <a:spcAft>
                  <a:spcPts val="1271"/>
                </a:spcAft>
                <a:buFont typeface="Wingdings" panose="05000000000000000000" pitchFamily="2" charset="2"/>
                <a:buChar char="§"/>
              </a:pPr>
              <a:r>
                <a:rPr lang="en-US" sz="2400" dirty="0">
                  <a:solidFill>
                    <a:srgbClr val="565656"/>
                  </a:solidFill>
                  <a:latin typeface="Segoe UI Light" panose="020B0502040204020203" pitchFamily="34" charset="0"/>
                  <a:cs typeface="Segoe UI Light" panose="020B0502040204020203" pitchFamily="34" charset="0"/>
                </a:rPr>
                <a:t>Vacuum achieved and hardening of the membrane with a 32 l/min vacuum pump and directed with solenoid valves via Arduino Uno</a:t>
              </a:r>
            </a:p>
            <a:p>
              <a:pPr marL="403650" indent="-403650" algn="just" defTabSz="678908">
                <a:spcAft>
                  <a:spcPts val="1271"/>
                </a:spcAft>
                <a:buFont typeface="Wingdings" panose="05000000000000000000" pitchFamily="2" charset="2"/>
                <a:buChar char="§"/>
              </a:pPr>
              <a:r>
                <a:rPr lang="en-US" sz="2400" dirty="0">
                  <a:solidFill>
                    <a:srgbClr val="565656"/>
                  </a:solidFill>
                  <a:latin typeface="Segoe UI Light" panose="020B0502040204020203" pitchFamily="34" charset="0"/>
                  <a:cs typeface="Segoe UI Light" panose="020B0502040204020203" pitchFamily="34" charset="0"/>
                </a:rPr>
                <a:t>The biggest and roughest granules and the highest filling percentage of the selection achieve the highest gripping forces (see Figure 4).</a:t>
              </a:r>
            </a:p>
          </p:txBody>
        </p:sp>
      </p:grpSp>
      <p:grpSp>
        <p:nvGrpSpPr>
          <p:cNvPr id="53" name="Group 52"/>
          <p:cNvGrpSpPr/>
          <p:nvPr/>
        </p:nvGrpSpPr>
        <p:grpSpPr>
          <a:xfrm>
            <a:off x="322660" y="30395720"/>
            <a:ext cx="20676728" cy="1836763"/>
            <a:chOff x="684265" y="5838484"/>
            <a:chExt cx="14400000" cy="2600514"/>
          </a:xfrm>
        </p:grpSpPr>
        <p:sp>
          <p:nvSpPr>
            <p:cNvPr id="54" name="TextBox 53"/>
            <p:cNvSpPr txBox="1"/>
            <p:nvPr/>
          </p:nvSpPr>
          <p:spPr>
            <a:xfrm>
              <a:off x="684265" y="5838484"/>
              <a:ext cx="14400000" cy="1082277"/>
            </a:xfrm>
            <a:prstGeom prst="rect">
              <a:avLst/>
            </a:prstGeom>
            <a:solidFill>
              <a:srgbClr val="D9D9D9"/>
            </a:solidFill>
          </p:spPr>
          <p:txBody>
            <a:bodyPr wrap="square" lIns="254271" rIns="254271" bIns="101708" rtlCol="0" anchor="ctr">
              <a:spAutoFit/>
            </a:bodyPr>
            <a:lstStyle/>
            <a:p>
              <a:pPr defTabSz="2814939">
                <a:spcBef>
                  <a:spcPct val="20000"/>
                </a:spcBef>
              </a:pPr>
              <a:r>
                <a:rPr lang="en-NZ" sz="4000" dirty="0">
                  <a:solidFill>
                    <a:srgbClr val="3E444C"/>
                  </a:solidFill>
                  <a:latin typeface="Segoe UI Light" panose="020B0502040204020203" pitchFamily="34" charset="0"/>
                  <a:cs typeface="Segoe UI Light" panose="020B0502040204020203" pitchFamily="34" charset="0"/>
                </a:rPr>
                <a:t>Literature</a:t>
              </a:r>
            </a:p>
          </p:txBody>
        </p:sp>
        <p:sp>
          <p:nvSpPr>
            <p:cNvPr id="55" name="TextBox 54"/>
            <p:cNvSpPr txBox="1"/>
            <p:nvPr/>
          </p:nvSpPr>
          <p:spPr>
            <a:xfrm>
              <a:off x="684265" y="6898947"/>
              <a:ext cx="14400000" cy="1540051"/>
            </a:xfrm>
            <a:prstGeom prst="rect">
              <a:avLst/>
            </a:prstGeom>
            <a:solidFill>
              <a:srgbClr val="1BBBE9">
                <a:alpha val="5000"/>
              </a:srgbClr>
            </a:solidFill>
          </p:spPr>
          <p:txBody>
            <a:bodyPr wrap="square" lIns="254271" tIns="127135" rIns="254271" bIns="127135" rtlCol="0" anchor="t">
              <a:spAutoFit/>
            </a:bodyPr>
            <a:lstStyle/>
            <a:p>
              <a:pPr marL="363285" indent="-363285" algn="just" defTabSz="678908">
                <a:buAutoNum type="arabicPeriod"/>
              </a:pPr>
              <a:r>
                <a:rPr lang="en-US" sz="1800" dirty="0">
                  <a:solidFill>
                    <a:srgbClr val="565656"/>
                  </a:solidFill>
                  <a:latin typeface="Segoe UI Light" panose="020B0502040204020203" pitchFamily="34" charset="0"/>
                  <a:cs typeface="Segoe UI Light" panose="020B0502040204020203" pitchFamily="34" charset="0"/>
                </a:rPr>
                <a:t>M. Dong</a:t>
              </a:r>
              <a:r>
                <a:rPr lang="en-US" sz="1800" i="1" dirty="0">
                  <a:solidFill>
                    <a:srgbClr val="565656"/>
                  </a:solidFill>
                  <a:latin typeface="Segoe UI Light" panose="020B0502040204020203" pitchFamily="34" charset="0"/>
                  <a:cs typeface="Segoe UI Light" panose="020B0502040204020203" pitchFamily="34" charset="0"/>
                </a:rPr>
                <a:t> et al.</a:t>
              </a:r>
              <a:r>
                <a:rPr lang="en-GB" sz="1800" dirty="0">
                  <a:solidFill>
                    <a:srgbClr val="565656"/>
                  </a:solidFill>
                  <a:latin typeface="Segoe UI Light" panose="020B0502040204020203" pitchFamily="34" charset="0"/>
                  <a:cs typeface="Segoe UI Light" panose="020B0502040204020203" pitchFamily="34" charset="0"/>
                </a:rPr>
                <a:t>, "State of the art in parallel ankle rehabilitation robot: a systematic review," </a:t>
              </a:r>
              <a:r>
                <a:rPr lang="en-GB" sz="1800" i="1" dirty="0">
                  <a:solidFill>
                    <a:srgbClr val="565656"/>
                  </a:solidFill>
                  <a:latin typeface="Segoe UI Light" panose="020B0502040204020203" pitchFamily="34" charset="0"/>
                  <a:cs typeface="Segoe UI Light" panose="020B0502040204020203" pitchFamily="34" charset="0"/>
                </a:rPr>
                <a:t>Journal of </a:t>
              </a:r>
              <a:r>
                <a:rPr lang="en-GB" sz="1800" i="1" dirty="0" err="1">
                  <a:solidFill>
                    <a:srgbClr val="565656"/>
                  </a:solidFill>
                  <a:latin typeface="Segoe UI Light" panose="020B0502040204020203" pitchFamily="34" charset="0"/>
                  <a:cs typeface="Segoe UI Light" panose="020B0502040204020203" pitchFamily="34" charset="0"/>
                </a:rPr>
                <a:t>NeuroEngineering</a:t>
              </a:r>
              <a:r>
                <a:rPr lang="en-GB" sz="1800" i="1" dirty="0">
                  <a:solidFill>
                    <a:srgbClr val="565656"/>
                  </a:solidFill>
                  <a:latin typeface="Segoe UI Light" panose="020B0502040204020203" pitchFamily="34" charset="0"/>
                  <a:cs typeface="Segoe UI Light" panose="020B0502040204020203" pitchFamily="34" charset="0"/>
                </a:rPr>
                <a:t> and Rehabilitation, </a:t>
              </a:r>
              <a:r>
                <a:rPr lang="en-GB" sz="1800" dirty="0">
                  <a:solidFill>
                    <a:srgbClr val="565656"/>
                  </a:solidFill>
                  <a:latin typeface="Segoe UI Light" panose="020B0502040204020203" pitchFamily="34" charset="0"/>
                  <a:cs typeface="Segoe UI Light" panose="020B0502040204020203" pitchFamily="34" charset="0"/>
                </a:rPr>
                <a:t>vol. 18, no. 1, pp. 1-15, 2021.</a:t>
              </a:r>
            </a:p>
            <a:p>
              <a:pPr marL="363285" indent="-363285" algn="just" defTabSz="678908">
                <a:buAutoNum type="arabicPeriod"/>
              </a:pPr>
              <a:r>
                <a:rPr lang="en-GB" sz="1800" dirty="0">
                  <a:solidFill>
                    <a:srgbClr val="565656"/>
                  </a:solidFill>
                  <a:latin typeface="Segoe UI Light" panose="020B0502040204020203" pitchFamily="34" charset="0"/>
                  <a:cs typeface="Segoe UI Light" panose="020B0502040204020203" pitchFamily="34" charset="0"/>
                </a:rPr>
                <a:t>[Y. M. Khalid, D. </a:t>
              </a:r>
              <a:r>
                <a:rPr lang="en-GB" sz="1800" dirty="0" err="1">
                  <a:solidFill>
                    <a:srgbClr val="565656"/>
                  </a:solidFill>
                  <a:latin typeface="Segoe UI Light" panose="020B0502040204020203" pitchFamily="34" charset="0"/>
                  <a:cs typeface="Segoe UI Light" panose="020B0502040204020203" pitchFamily="34" charset="0"/>
                </a:rPr>
                <a:t>Gouwanda</a:t>
              </a:r>
              <a:r>
                <a:rPr lang="en-GB" sz="1800" dirty="0">
                  <a:solidFill>
                    <a:srgbClr val="565656"/>
                  </a:solidFill>
                  <a:latin typeface="Segoe UI Light" panose="020B0502040204020203" pitchFamily="34" charset="0"/>
                  <a:cs typeface="Segoe UI Light" panose="020B0502040204020203" pitchFamily="34" charset="0"/>
                </a:rPr>
                <a:t>, and S. Parasuraman, "A review on the mechanical design elements of ankle rehabilitation robot," </a:t>
              </a:r>
              <a:r>
                <a:rPr lang="en-GB" sz="1800" i="1" dirty="0">
                  <a:solidFill>
                    <a:srgbClr val="565656"/>
                  </a:solidFill>
                  <a:latin typeface="Segoe UI Light" panose="020B0502040204020203" pitchFamily="34" charset="0"/>
                  <a:cs typeface="Segoe UI Light" panose="020B0502040204020203" pitchFamily="34" charset="0"/>
                </a:rPr>
                <a:t>Proceedings of the Institution of Mechanical Engineers, Part H: Journal of Engineering in Medicine, </a:t>
              </a:r>
              <a:r>
                <a:rPr lang="en-GB" sz="1800" dirty="0">
                  <a:solidFill>
                    <a:srgbClr val="565656"/>
                  </a:solidFill>
                  <a:latin typeface="Segoe UI Light" panose="020B0502040204020203" pitchFamily="34" charset="0"/>
                  <a:cs typeface="Segoe UI Light" panose="020B0502040204020203" pitchFamily="34" charset="0"/>
                </a:rPr>
                <a:t>vol. 229, no. 6, pp. 452-463, 2015.</a:t>
              </a:r>
            </a:p>
          </p:txBody>
        </p:sp>
      </p:grpSp>
      <p:grpSp>
        <p:nvGrpSpPr>
          <p:cNvPr id="56" name="Group 55"/>
          <p:cNvGrpSpPr/>
          <p:nvPr/>
        </p:nvGrpSpPr>
        <p:grpSpPr>
          <a:xfrm>
            <a:off x="10907836" y="25976127"/>
            <a:ext cx="10170835" cy="2649805"/>
            <a:chOff x="684265" y="5838484"/>
            <a:chExt cx="14400000" cy="3751628"/>
          </a:xfrm>
        </p:grpSpPr>
        <p:sp>
          <p:nvSpPr>
            <p:cNvPr id="57" name="TextBox 56"/>
            <p:cNvSpPr txBox="1"/>
            <p:nvPr/>
          </p:nvSpPr>
          <p:spPr>
            <a:xfrm>
              <a:off x="684265" y="5838484"/>
              <a:ext cx="14400000" cy="1082277"/>
            </a:xfrm>
            <a:prstGeom prst="rect">
              <a:avLst/>
            </a:prstGeom>
            <a:solidFill>
              <a:srgbClr val="D9D9D9"/>
            </a:solidFill>
          </p:spPr>
          <p:txBody>
            <a:bodyPr wrap="square" lIns="254271" rIns="254271" bIns="101708" rtlCol="0" anchor="ctr">
              <a:spAutoFit/>
            </a:bodyPr>
            <a:lstStyle/>
            <a:p>
              <a:pPr defTabSz="2814939">
                <a:spcBef>
                  <a:spcPct val="20000"/>
                </a:spcBef>
              </a:pPr>
              <a:r>
                <a:rPr lang="en-NZ" sz="4000">
                  <a:solidFill>
                    <a:srgbClr val="3E444C"/>
                  </a:solidFill>
                  <a:latin typeface="Segoe UI Light" panose="020B0502040204020203" pitchFamily="34" charset="0"/>
                  <a:cs typeface="Segoe UI Light" panose="020B0502040204020203" pitchFamily="34" charset="0"/>
                </a:rPr>
                <a:t>Conclusions</a:t>
              </a:r>
              <a:endParaRPr lang="en-NZ" sz="4000" dirty="0">
                <a:solidFill>
                  <a:srgbClr val="3E444C"/>
                </a:solidFill>
                <a:latin typeface="Segoe UI Light" panose="020B0502040204020203" pitchFamily="34" charset="0"/>
                <a:cs typeface="Segoe UI Light" panose="020B0502040204020203" pitchFamily="34" charset="0"/>
              </a:endParaRPr>
            </a:p>
          </p:txBody>
        </p:sp>
        <p:sp>
          <p:nvSpPr>
            <p:cNvPr id="58" name="TextBox 57"/>
            <p:cNvSpPr txBox="1"/>
            <p:nvPr/>
          </p:nvSpPr>
          <p:spPr>
            <a:xfrm>
              <a:off x="684265" y="6898945"/>
              <a:ext cx="14400000" cy="2691167"/>
            </a:xfrm>
            <a:prstGeom prst="rect">
              <a:avLst/>
            </a:prstGeom>
            <a:solidFill>
              <a:srgbClr val="1BBBE9">
                <a:alpha val="5000"/>
              </a:srgbClr>
            </a:solidFill>
          </p:spPr>
          <p:txBody>
            <a:bodyPr wrap="square" lIns="254271" tIns="127135" rIns="254271" bIns="127135" rtlCol="0" anchor="t">
              <a:spAutoFit/>
            </a:bodyPr>
            <a:lstStyle/>
            <a:p>
              <a:pPr marL="403650" indent="-403650" algn="just" defTabSz="678908">
                <a:spcAft>
                  <a:spcPts val="1271"/>
                </a:spcAft>
                <a:buFont typeface="Wingdings" panose="05000000000000000000" pitchFamily="2" charset="2"/>
                <a:buChar char="§"/>
              </a:pPr>
              <a:r>
                <a:rPr lang="en-NZ" sz="2400" dirty="0">
                  <a:solidFill>
                    <a:srgbClr val="565656"/>
                  </a:solidFill>
                  <a:latin typeface="Segoe UI Light" panose="020B0502040204020203" pitchFamily="34" charset="0"/>
                  <a:cs typeface="Segoe UI Light" panose="020B0502040204020203" pitchFamily="34" charset="0"/>
                </a:rPr>
                <a:t>Design suitable for gripping the German adult’s foot without interfering without interfering with the ankle’s rotation</a:t>
              </a:r>
            </a:p>
            <a:p>
              <a:pPr marL="403650" indent="-403650" algn="just" defTabSz="678908">
                <a:spcAft>
                  <a:spcPts val="1271"/>
                </a:spcAft>
                <a:buFont typeface="Wingdings" panose="05000000000000000000" pitchFamily="2" charset="2"/>
                <a:buChar char="§"/>
              </a:pPr>
              <a:r>
                <a:rPr lang="en-NZ" sz="2400" dirty="0">
                  <a:solidFill>
                    <a:srgbClr val="565656"/>
                  </a:solidFill>
                  <a:latin typeface="Segoe UI Light" panose="020B0502040204020203" pitchFamily="34" charset="0"/>
                  <a:cs typeface="Segoe UI Light" panose="020B0502040204020203" pitchFamily="34" charset="0"/>
                </a:rPr>
                <a:t>Optimal gripping ability with 60% filling, 0.25 mm membrane thickness and the choice of granulated sugar from the selection of granule types</a:t>
              </a:r>
            </a:p>
          </p:txBody>
        </p:sp>
      </p:grpSp>
      <p:sp>
        <p:nvSpPr>
          <p:cNvPr id="44" name="Textfeld 43">
            <a:extLst>
              <a:ext uri="{FF2B5EF4-FFF2-40B4-BE49-F238E27FC236}">
                <a16:creationId xmlns:a16="http://schemas.microsoft.com/office/drawing/2014/main" id="{1E5C4FEC-5754-4113-B2AD-849D294A0A64}"/>
              </a:ext>
            </a:extLst>
          </p:cNvPr>
          <p:cNvSpPr txBox="1"/>
          <p:nvPr/>
        </p:nvSpPr>
        <p:spPr>
          <a:xfrm>
            <a:off x="17635228" y="141959"/>
            <a:ext cx="3497744" cy="954107"/>
          </a:xfrm>
          <a:prstGeom prst="rect">
            <a:avLst/>
          </a:prstGeom>
          <a:noFill/>
        </p:spPr>
        <p:txBody>
          <a:bodyPr wrap="square" rtlCol="0">
            <a:spAutoFit/>
          </a:bodyPr>
          <a:lstStyle/>
          <a:p>
            <a:pPr algn="r"/>
            <a:r>
              <a:rPr lang="de-DE" sz="2800" dirty="0">
                <a:solidFill>
                  <a:schemeClr val="bg2">
                    <a:lumMod val="50000"/>
                  </a:schemeClr>
                </a:solidFill>
                <a:latin typeface="Segoe UI Light" panose="020B0502040204020203" pitchFamily="34" charset="0"/>
                <a:cs typeface="Segoe UI Light" panose="020B0502040204020203" pitchFamily="34" charset="0"/>
              </a:rPr>
              <a:t>Bachelor </a:t>
            </a:r>
            <a:r>
              <a:rPr lang="de-DE" sz="2800" dirty="0" err="1">
                <a:solidFill>
                  <a:schemeClr val="bg2">
                    <a:lumMod val="50000"/>
                  </a:schemeClr>
                </a:solidFill>
                <a:latin typeface="Segoe UI Light" panose="020B0502040204020203" pitchFamily="34" charset="0"/>
                <a:cs typeface="Segoe UI Light" panose="020B0502040204020203" pitchFamily="34" charset="0"/>
              </a:rPr>
              <a:t>thesis</a:t>
            </a:r>
            <a:r>
              <a:rPr lang="de-DE" sz="2800" dirty="0">
                <a:solidFill>
                  <a:schemeClr val="bg2">
                    <a:lumMod val="50000"/>
                  </a:schemeClr>
                </a:solidFill>
                <a:latin typeface="Segoe UI Light" panose="020B0502040204020203" pitchFamily="34" charset="0"/>
                <a:cs typeface="Segoe UI Light" panose="020B0502040204020203" pitchFamily="34" charset="0"/>
              </a:rPr>
              <a:t> 0227</a:t>
            </a:r>
          </a:p>
          <a:p>
            <a:pPr algn="r"/>
            <a:r>
              <a:rPr lang="de-DE" sz="2800" dirty="0">
                <a:solidFill>
                  <a:schemeClr val="bg2">
                    <a:lumMod val="50000"/>
                  </a:schemeClr>
                </a:solidFill>
                <a:latin typeface="Segoe UI Light" panose="020B0502040204020203" pitchFamily="34" charset="0"/>
                <a:cs typeface="Segoe UI Light" panose="020B0502040204020203" pitchFamily="34" charset="0"/>
              </a:rPr>
              <a:t>05.03.2024</a:t>
            </a:r>
          </a:p>
        </p:txBody>
      </p:sp>
      <p:pic>
        <p:nvPicPr>
          <p:cNvPr id="45" name="Picture 44"/>
          <p:cNvPicPr>
            <a:picLocks noChangeAspect="1"/>
          </p:cNvPicPr>
          <p:nvPr/>
        </p:nvPicPr>
        <p:blipFill>
          <a:blip r:embed="rId5" cstate="print">
            <a:clrChange>
              <a:clrFrom>
                <a:srgbClr val="FFFEFD"/>
              </a:clrFrom>
              <a:clrTo>
                <a:srgbClr val="FFFEFD">
                  <a:alpha val="0"/>
                </a:srgbClr>
              </a:clrTo>
            </a:clrChange>
            <a:extLst>
              <a:ext uri="{28A0092B-C50C-407E-A947-70E740481C1C}">
                <a14:useLocalDpi xmlns:a14="http://schemas.microsoft.com/office/drawing/2010/main" val="0"/>
              </a:ext>
            </a:extLst>
          </a:blip>
          <a:stretch>
            <a:fillRect/>
          </a:stretch>
        </p:blipFill>
        <p:spPr>
          <a:xfrm>
            <a:off x="15901757" y="2059537"/>
            <a:ext cx="5159207" cy="1188000"/>
          </a:xfrm>
          <a:prstGeom prst="rect">
            <a:avLst/>
          </a:prstGeom>
        </p:spPr>
      </p:pic>
      <p:pic>
        <p:nvPicPr>
          <p:cNvPr id="7" name="Grafik 6">
            <a:extLst>
              <a:ext uri="{FF2B5EF4-FFF2-40B4-BE49-F238E27FC236}">
                <a16:creationId xmlns:a16="http://schemas.microsoft.com/office/drawing/2014/main" id="{EAB3423B-A467-5D0C-59D6-342B9E4242E8}"/>
              </a:ext>
            </a:extLst>
          </p:cNvPr>
          <p:cNvPicPr>
            <a:picLocks noChangeAspect="1"/>
          </p:cNvPicPr>
          <p:nvPr/>
        </p:nvPicPr>
        <p:blipFill rotWithShape="1">
          <a:blip r:embed="rId6">
            <a:extLst>
              <a:ext uri="{28A0092B-C50C-407E-A947-70E740481C1C}">
                <a14:useLocalDpi xmlns:a14="http://schemas.microsoft.com/office/drawing/2010/main" val="0"/>
              </a:ext>
            </a:extLst>
          </a:blip>
          <a:srcRect l="3193" t="2987" b="1687"/>
          <a:stretch/>
        </p:blipFill>
        <p:spPr bwMode="auto">
          <a:xfrm rot="5400000">
            <a:off x="4501268" y="25165808"/>
            <a:ext cx="3995420" cy="2642235"/>
          </a:xfrm>
          <a:prstGeom prst="rect">
            <a:avLst/>
          </a:prstGeom>
          <a:noFill/>
          <a:ln>
            <a:noFill/>
          </a:ln>
          <a:extLst>
            <a:ext uri="{53640926-AAD7-44D8-BBD7-CCE9431645EC}">
              <a14:shadowObscured xmlns:a14="http://schemas.microsoft.com/office/drawing/2010/main"/>
            </a:ext>
          </a:extLst>
        </p:spPr>
      </p:pic>
      <p:pic>
        <p:nvPicPr>
          <p:cNvPr id="9" name="Grafik 8" descr="Ein Bild, das Maschine, Bautechnik, Im Haus, Forschungsinstrument enthält.&#10;&#10;Automatisch generierte Beschreibung">
            <a:extLst>
              <a:ext uri="{FF2B5EF4-FFF2-40B4-BE49-F238E27FC236}">
                <a16:creationId xmlns:a16="http://schemas.microsoft.com/office/drawing/2014/main" id="{A015419C-4CF0-205C-D0E6-9E14DD6BC403}"/>
              </a:ext>
            </a:extLst>
          </p:cNvPr>
          <p:cNvPicPr>
            <a:picLocks noChangeAspect="1"/>
          </p:cNvPicPr>
          <p:nvPr/>
        </p:nvPicPr>
        <p:blipFill rotWithShape="1">
          <a:blip r:embed="rId7">
            <a:extLst>
              <a:ext uri="{28A0092B-C50C-407E-A947-70E740481C1C}">
                <a14:useLocalDpi xmlns:a14="http://schemas.microsoft.com/office/drawing/2010/main" val="0"/>
              </a:ext>
            </a:extLst>
          </a:blip>
          <a:srcRect t="3554" r="6304" b="3513"/>
          <a:stretch/>
        </p:blipFill>
        <p:spPr bwMode="auto">
          <a:xfrm rot="5400000">
            <a:off x="7161428" y="25170538"/>
            <a:ext cx="3995420" cy="2642235"/>
          </a:xfrm>
          <a:prstGeom prst="rect">
            <a:avLst/>
          </a:prstGeom>
          <a:noFill/>
          <a:ln>
            <a:noFill/>
          </a:ln>
          <a:extLst>
            <a:ext uri="{53640926-AAD7-44D8-BBD7-CCE9431645EC}">
              <a14:shadowObscured xmlns:a14="http://schemas.microsoft.com/office/drawing/2010/main"/>
            </a:ext>
          </a:extLst>
        </p:spPr>
      </p:pic>
      <p:grpSp>
        <p:nvGrpSpPr>
          <p:cNvPr id="3" name="Group 61">
            <a:extLst>
              <a:ext uri="{FF2B5EF4-FFF2-40B4-BE49-F238E27FC236}">
                <a16:creationId xmlns:a16="http://schemas.microsoft.com/office/drawing/2014/main" id="{379D7D7F-A661-CAE5-A89A-1AE3A0129F57}"/>
              </a:ext>
            </a:extLst>
          </p:cNvPr>
          <p:cNvGrpSpPr/>
          <p:nvPr/>
        </p:nvGrpSpPr>
        <p:grpSpPr>
          <a:xfrm>
            <a:off x="337773" y="8120745"/>
            <a:ext cx="10170835" cy="4460557"/>
            <a:chOff x="684265" y="5838484"/>
            <a:chExt cx="14400000" cy="6315315"/>
          </a:xfrm>
        </p:grpSpPr>
        <p:sp>
          <p:nvSpPr>
            <p:cNvPr id="4" name="TextBox 62">
              <a:extLst>
                <a:ext uri="{FF2B5EF4-FFF2-40B4-BE49-F238E27FC236}">
                  <a16:creationId xmlns:a16="http://schemas.microsoft.com/office/drawing/2014/main" id="{C42A852D-62B5-9883-CFFA-34F1FF8A22F5}"/>
                </a:ext>
              </a:extLst>
            </p:cNvPr>
            <p:cNvSpPr txBox="1"/>
            <p:nvPr/>
          </p:nvSpPr>
          <p:spPr>
            <a:xfrm>
              <a:off x="684265" y="5838484"/>
              <a:ext cx="14400000" cy="1082278"/>
            </a:xfrm>
            <a:prstGeom prst="rect">
              <a:avLst/>
            </a:prstGeom>
            <a:solidFill>
              <a:srgbClr val="D9D9D9"/>
            </a:solidFill>
          </p:spPr>
          <p:txBody>
            <a:bodyPr wrap="square" lIns="254271" rIns="254271" bIns="101708" rtlCol="0" anchor="ctr">
              <a:spAutoFit/>
            </a:bodyPr>
            <a:lstStyle/>
            <a:p>
              <a:pPr defTabSz="2814939">
                <a:spcBef>
                  <a:spcPct val="20000"/>
                </a:spcBef>
              </a:pPr>
              <a:r>
                <a:rPr lang="en-NZ" sz="4000" dirty="0">
                  <a:solidFill>
                    <a:srgbClr val="3E444C"/>
                  </a:solidFill>
                  <a:latin typeface="Segoe UI Light" panose="020B0502040204020203" pitchFamily="34" charset="0"/>
                  <a:cs typeface="Segoe UI Light" panose="020B0502040204020203" pitchFamily="34" charset="0"/>
                </a:rPr>
                <a:t>System design</a:t>
              </a:r>
            </a:p>
          </p:txBody>
        </p:sp>
        <p:sp>
          <p:nvSpPr>
            <p:cNvPr id="11" name="TextBox 63">
              <a:extLst>
                <a:ext uri="{FF2B5EF4-FFF2-40B4-BE49-F238E27FC236}">
                  <a16:creationId xmlns:a16="http://schemas.microsoft.com/office/drawing/2014/main" id="{C05A6B6E-31A9-5CB7-5D15-6BA7BFF99F8F}"/>
                </a:ext>
              </a:extLst>
            </p:cNvPr>
            <p:cNvSpPr txBox="1"/>
            <p:nvPr/>
          </p:nvSpPr>
          <p:spPr>
            <a:xfrm>
              <a:off x="684265" y="6898945"/>
              <a:ext cx="14400000" cy="5254854"/>
            </a:xfrm>
            <a:prstGeom prst="rect">
              <a:avLst/>
            </a:prstGeom>
            <a:solidFill>
              <a:srgbClr val="1BBBE9">
                <a:alpha val="5000"/>
              </a:srgbClr>
            </a:solidFill>
          </p:spPr>
          <p:txBody>
            <a:bodyPr wrap="square" lIns="254271" tIns="127135" rIns="254271" bIns="127135" rtlCol="0" anchor="t">
              <a:spAutoFit/>
            </a:bodyPr>
            <a:lstStyle/>
            <a:p>
              <a:pPr marL="403650" indent="-403650" algn="just" defTabSz="678908">
                <a:spcAft>
                  <a:spcPts val="1271"/>
                </a:spcAft>
                <a:buFont typeface="Wingdings" panose="05000000000000000000" pitchFamily="2" charset="2"/>
                <a:buChar char="§"/>
              </a:pPr>
              <a:r>
                <a:rPr lang="en-NZ" sz="2400" dirty="0">
                  <a:solidFill>
                    <a:srgbClr val="565656"/>
                  </a:solidFill>
                  <a:latin typeface="Segoe UI Light" panose="020B0502040204020203" pitchFamily="34" charset="0"/>
                  <a:cs typeface="Segoe UI Light" panose="020B0502040204020203" pitchFamily="34" charset="0"/>
                </a:rPr>
                <a:t>Granule-filled latex membrane housed in a collar-shaped base and connected through a filter to air and vacuum.</a:t>
              </a:r>
            </a:p>
            <a:p>
              <a:pPr marL="403650" indent="-403650" algn="just" defTabSz="678908">
                <a:spcAft>
                  <a:spcPts val="1271"/>
                </a:spcAft>
                <a:buFont typeface="Wingdings" panose="05000000000000000000" pitchFamily="2" charset="2"/>
                <a:buChar char="§"/>
              </a:pPr>
              <a:r>
                <a:rPr lang="en-NZ" sz="2400" dirty="0">
                  <a:solidFill>
                    <a:srgbClr val="565656"/>
                  </a:solidFill>
                  <a:latin typeface="Segoe UI Light" panose="020B0502040204020203" pitchFamily="34" charset="0"/>
                  <a:cs typeface="Segoe UI Light" panose="020B0502040204020203" pitchFamily="34" charset="0"/>
                </a:rPr>
                <a:t>Ellipsoid-shaped membrane with a depression in the centre for the immersion of the foot and enveloping its sides with granules</a:t>
              </a:r>
            </a:p>
            <a:p>
              <a:pPr marL="403650" indent="-403650" algn="just" defTabSz="678908">
                <a:spcAft>
                  <a:spcPts val="1271"/>
                </a:spcAft>
                <a:buFont typeface="Wingdings" panose="05000000000000000000" pitchFamily="2" charset="2"/>
                <a:buChar char="§"/>
              </a:pPr>
              <a:r>
                <a:rPr lang="en-NZ" sz="2400" dirty="0">
                  <a:solidFill>
                    <a:srgbClr val="565656"/>
                  </a:solidFill>
                  <a:latin typeface="Segoe UI Light" panose="020B0502040204020203" pitchFamily="34" charset="0"/>
                  <a:cs typeface="Segoe UI Light" panose="020B0502040204020203" pitchFamily="34" charset="0"/>
                </a:rPr>
                <a:t>Air and vacuum inputs directed by 2 alternating solenoid valves</a:t>
              </a:r>
            </a:p>
            <a:p>
              <a:pPr marL="403650" indent="-403650" algn="just" defTabSz="678908">
                <a:spcAft>
                  <a:spcPts val="1271"/>
                </a:spcAft>
                <a:buFont typeface="Wingdings" panose="05000000000000000000" pitchFamily="2" charset="2"/>
                <a:buChar char="§"/>
              </a:pPr>
              <a:r>
                <a:rPr lang="en-NZ" sz="2400" dirty="0">
                  <a:solidFill>
                    <a:srgbClr val="565656"/>
                  </a:solidFill>
                  <a:latin typeface="Segoe UI Light" panose="020B0502040204020203" pitchFamily="34" charset="0"/>
                  <a:cs typeface="Segoe UI Light" panose="020B0502040204020203" pitchFamily="34" charset="0"/>
                </a:rPr>
                <a:t>Electronics case separate from GJG containing a foot pedal to turn on/off the gripper, green and red LEDs to indicate its state, and Arduino Uno microcontroller</a:t>
              </a:r>
            </a:p>
          </p:txBody>
        </p:sp>
      </p:grpSp>
      <p:grpSp>
        <p:nvGrpSpPr>
          <p:cNvPr id="13" name="Group 46">
            <a:extLst>
              <a:ext uri="{FF2B5EF4-FFF2-40B4-BE49-F238E27FC236}">
                <a16:creationId xmlns:a16="http://schemas.microsoft.com/office/drawing/2014/main" id="{A7667BC6-42E9-7703-9C25-F7C105CC898D}"/>
              </a:ext>
            </a:extLst>
          </p:cNvPr>
          <p:cNvGrpSpPr/>
          <p:nvPr/>
        </p:nvGrpSpPr>
        <p:grpSpPr>
          <a:xfrm>
            <a:off x="10907836" y="3761999"/>
            <a:ext cx="10170835" cy="3924513"/>
            <a:chOff x="684265" y="5838484"/>
            <a:chExt cx="14400000" cy="5556383"/>
          </a:xfrm>
        </p:grpSpPr>
        <p:sp>
          <p:nvSpPr>
            <p:cNvPr id="15" name="TextBox 47">
              <a:extLst>
                <a:ext uri="{FF2B5EF4-FFF2-40B4-BE49-F238E27FC236}">
                  <a16:creationId xmlns:a16="http://schemas.microsoft.com/office/drawing/2014/main" id="{FC881075-D30C-3747-7BF2-A6956CE8880F}"/>
                </a:ext>
              </a:extLst>
            </p:cNvPr>
            <p:cNvSpPr txBox="1"/>
            <p:nvPr/>
          </p:nvSpPr>
          <p:spPr>
            <a:xfrm>
              <a:off x="684265" y="5838484"/>
              <a:ext cx="14400000" cy="1082278"/>
            </a:xfrm>
            <a:prstGeom prst="rect">
              <a:avLst/>
            </a:prstGeom>
            <a:solidFill>
              <a:srgbClr val="D9D9D9"/>
            </a:solidFill>
          </p:spPr>
          <p:txBody>
            <a:bodyPr wrap="square" lIns="254271" rIns="254271" bIns="101708" rtlCol="0" anchor="ctr">
              <a:spAutoFit/>
            </a:bodyPr>
            <a:lstStyle/>
            <a:p>
              <a:pPr defTabSz="2814939">
                <a:spcBef>
                  <a:spcPct val="20000"/>
                </a:spcBef>
              </a:pPr>
              <a:r>
                <a:rPr lang="en-NZ" sz="4000" dirty="0">
                  <a:solidFill>
                    <a:srgbClr val="3E444C"/>
                  </a:solidFill>
                  <a:latin typeface="Segoe UI Light" panose="020B0502040204020203" pitchFamily="34" charset="0"/>
                  <a:cs typeface="Segoe UI Light" panose="020B0502040204020203" pitchFamily="34" charset="0"/>
                </a:rPr>
                <a:t>Objectives</a:t>
              </a:r>
            </a:p>
          </p:txBody>
        </p:sp>
        <p:sp>
          <p:nvSpPr>
            <p:cNvPr id="16" name="TextBox 48">
              <a:extLst>
                <a:ext uri="{FF2B5EF4-FFF2-40B4-BE49-F238E27FC236}">
                  <a16:creationId xmlns:a16="http://schemas.microsoft.com/office/drawing/2014/main" id="{72A325E7-D80F-2610-10C1-5DD3CB81E2B4}"/>
                </a:ext>
              </a:extLst>
            </p:cNvPr>
            <p:cNvSpPr txBox="1"/>
            <p:nvPr/>
          </p:nvSpPr>
          <p:spPr>
            <a:xfrm>
              <a:off x="684265" y="6898946"/>
              <a:ext cx="14400000" cy="4495921"/>
            </a:xfrm>
            <a:prstGeom prst="rect">
              <a:avLst/>
            </a:prstGeom>
            <a:solidFill>
              <a:srgbClr val="1BBBE9">
                <a:alpha val="5000"/>
              </a:srgbClr>
            </a:solidFill>
          </p:spPr>
          <p:txBody>
            <a:bodyPr wrap="square" lIns="254271" tIns="127135" rIns="254271" bIns="127135" rtlCol="0" anchor="t">
              <a:spAutoFit/>
            </a:bodyPr>
            <a:lstStyle/>
            <a:p>
              <a:pPr marL="403650" indent="-403650" algn="just" defTabSz="678908">
                <a:spcAft>
                  <a:spcPts val="1271"/>
                </a:spcAft>
                <a:buFont typeface="Wingdings" panose="05000000000000000000" pitchFamily="2" charset="2"/>
                <a:buChar char="§"/>
              </a:pPr>
              <a:r>
                <a:rPr lang="en-GB" sz="2400" dirty="0">
                  <a:solidFill>
                    <a:srgbClr val="565656"/>
                  </a:solidFill>
                  <a:latin typeface="Segoe UI Light" panose="020B0502040204020203" pitchFamily="34" charset="0"/>
                  <a:cs typeface="Segoe UI Light" panose="020B0502040204020203" pitchFamily="34" charset="0"/>
                </a:rPr>
                <a:t>Development of a Granular Jamming Gripper (GJG) that attaches the German adult’s foot’s plantar surface through deformation of a granule-filled membrane to its geometry and its subsequent hardening upon application of vacuum in the membrane. </a:t>
              </a:r>
            </a:p>
            <a:p>
              <a:pPr marL="403650" indent="-403650" algn="just" defTabSz="678908">
                <a:spcAft>
                  <a:spcPts val="1271"/>
                </a:spcAft>
                <a:buFont typeface="Wingdings" panose="05000000000000000000" pitchFamily="2" charset="2"/>
                <a:buChar char="§"/>
              </a:pPr>
              <a:r>
                <a:rPr lang="en-GB" sz="2400" dirty="0">
                  <a:solidFill>
                    <a:srgbClr val="565656"/>
                  </a:solidFill>
                  <a:latin typeface="Segoe UI Light" panose="020B0502040204020203" pitchFamily="34" charset="0"/>
                  <a:cs typeface="Segoe UI Light" panose="020B0502040204020203" pitchFamily="34" charset="0"/>
                </a:rPr>
                <a:t>Controllability with a foot pedal.</a:t>
              </a:r>
            </a:p>
            <a:p>
              <a:pPr marL="403650" indent="-403650" algn="just" defTabSz="678908">
                <a:spcAft>
                  <a:spcPts val="1271"/>
                </a:spcAft>
                <a:buFont typeface="Wingdings" panose="05000000000000000000" pitchFamily="2" charset="2"/>
                <a:buChar char="§"/>
              </a:pPr>
              <a:r>
                <a:rPr lang="en-GB" sz="2400" dirty="0">
                  <a:solidFill>
                    <a:srgbClr val="565656"/>
                  </a:solidFill>
                  <a:latin typeface="Segoe UI Light" panose="020B0502040204020203" pitchFamily="34" charset="0"/>
                  <a:cs typeface="Segoe UI Light" panose="020B0502040204020203" pitchFamily="34" charset="0"/>
                </a:rPr>
                <a:t>Investigation of suitable filling percentage, granule type and membrane thickness</a:t>
              </a:r>
            </a:p>
          </p:txBody>
        </p:sp>
      </p:grpSp>
      <p:pic>
        <p:nvPicPr>
          <p:cNvPr id="18" name="Inhaltsplatzhalter 9" descr="Ein Bild, das Sitzkissen enthält.&#10;&#10;Automatisch generierte Beschreibung mit mittlerer Zuverlässigkeit">
            <a:extLst>
              <a:ext uri="{FF2B5EF4-FFF2-40B4-BE49-F238E27FC236}">
                <a16:creationId xmlns:a16="http://schemas.microsoft.com/office/drawing/2014/main" id="{44EA0E44-6FAB-BCDC-FFA2-E6786D70741C}"/>
              </a:ext>
            </a:extLst>
          </p:cNvPr>
          <p:cNvPicPr>
            <a:picLocks noChangeAspect="1"/>
          </p:cNvPicPr>
          <p:nvPr/>
        </p:nvPicPr>
        <p:blipFill>
          <a:blip r:embed="rId8"/>
          <a:stretch>
            <a:fillRect/>
          </a:stretch>
        </p:blipFill>
        <p:spPr>
          <a:xfrm>
            <a:off x="3319809" y="13715557"/>
            <a:ext cx="4160794" cy="3492500"/>
          </a:xfrm>
          <a:prstGeom prst="rect">
            <a:avLst/>
          </a:prstGeom>
        </p:spPr>
      </p:pic>
      <p:cxnSp>
        <p:nvCxnSpPr>
          <p:cNvPr id="19" name="Gerade Verbindung mit Pfeil 18">
            <a:extLst>
              <a:ext uri="{FF2B5EF4-FFF2-40B4-BE49-F238E27FC236}">
                <a16:creationId xmlns:a16="http://schemas.microsoft.com/office/drawing/2014/main" id="{A3FB00BA-44C0-7782-7D8C-F01DB6298269}"/>
              </a:ext>
            </a:extLst>
          </p:cNvPr>
          <p:cNvCxnSpPr>
            <a:cxnSpLocks/>
          </p:cNvCxnSpPr>
          <p:nvPr/>
        </p:nvCxnSpPr>
        <p:spPr>
          <a:xfrm>
            <a:off x="3969465" y="16068554"/>
            <a:ext cx="0" cy="3338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CE9EB3B8-6066-783F-9A42-E7731A26A159}"/>
              </a:ext>
            </a:extLst>
          </p:cNvPr>
          <p:cNvSpPr txBox="1"/>
          <p:nvPr/>
        </p:nvSpPr>
        <p:spPr>
          <a:xfrm>
            <a:off x="7440509" y="14212614"/>
            <a:ext cx="1074616" cy="389883"/>
          </a:xfrm>
          <a:prstGeom prst="rect">
            <a:avLst/>
          </a:prstGeom>
          <a:noFill/>
        </p:spPr>
        <p:txBody>
          <a:bodyPr wrap="none" lIns="0" tIns="0" rIns="0" bIns="0" rtlCol="0">
            <a:noAutofit/>
          </a:bodyPr>
          <a:lstStyle/>
          <a:p>
            <a:pPr>
              <a:buClr>
                <a:schemeClr val="accent1"/>
              </a:buClr>
            </a:pPr>
            <a:r>
              <a:rPr lang="de-DE" sz="1200" dirty="0" err="1">
                <a:latin typeface="Univers" panose="020B0503020202020204" pitchFamily="34" charset="0"/>
              </a:rPr>
              <a:t>Granule-filled</a:t>
            </a:r>
            <a:r>
              <a:rPr lang="de-DE" sz="1200">
                <a:latin typeface="Univers" panose="020B0503020202020204" pitchFamily="34" charset="0"/>
              </a:rPr>
              <a:t> </a:t>
            </a:r>
            <a:br>
              <a:rPr lang="de-DE" sz="1200" dirty="0">
                <a:latin typeface="Univers" panose="020B0503020202020204" pitchFamily="34" charset="0"/>
              </a:rPr>
            </a:br>
            <a:r>
              <a:rPr lang="de-DE" sz="1200">
                <a:latin typeface="Univers" panose="020B0503020202020204" pitchFamily="34" charset="0"/>
              </a:rPr>
              <a:t>membrane</a:t>
            </a:r>
            <a:endParaRPr lang="en-GB" sz="1200" dirty="0">
              <a:latin typeface="Univers" panose="020B0503020202020204" pitchFamily="34" charset="0"/>
            </a:endParaRPr>
          </a:p>
        </p:txBody>
      </p:sp>
      <p:sp>
        <p:nvSpPr>
          <p:cNvPr id="21" name="Textfeld 20">
            <a:extLst>
              <a:ext uri="{FF2B5EF4-FFF2-40B4-BE49-F238E27FC236}">
                <a16:creationId xmlns:a16="http://schemas.microsoft.com/office/drawing/2014/main" id="{41A98BF4-11A4-1CE8-3746-DCBD0A8E148B}"/>
              </a:ext>
            </a:extLst>
          </p:cNvPr>
          <p:cNvSpPr txBox="1"/>
          <p:nvPr/>
        </p:nvSpPr>
        <p:spPr>
          <a:xfrm>
            <a:off x="5905176" y="17298337"/>
            <a:ext cx="1230689" cy="318301"/>
          </a:xfrm>
          <a:prstGeom prst="rect">
            <a:avLst/>
          </a:prstGeom>
          <a:noFill/>
        </p:spPr>
        <p:txBody>
          <a:bodyPr wrap="none" lIns="0" tIns="0" rIns="0" bIns="0" rtlCol="0">
            <a:noAutofit/>
          </a:bodyPr>
          <a:lstStyle/>
          <a:p>
            <a:pPr>
              <a:buClr>
                <a:schemeClr val="accent1"/>
              </a:buClr>
            </a:pPr>
            <a:r>
              <a:rPr lang="de-DE" sz="1200" dirty="0">
                <a:latin typeface="Univers" panose="020B0503020202020204" pitchFamily="34" charset="0"/>
              </a:rPr>
              <a:t>Solenoid </a:t>
            </a:r>
            <a:r>
              <a:rPr lang="de-DE" sz="1200">
                <a:latin typeface="Univers" panose="020B0503020202020204" pitchFamily="34" charset="0"/>
              </a:rPr>
              <a:t>valves</a:t>
            </a:r>
            <a:endParaRPr lang="en-GB" sz="1200" dirty="0">
              <a:latin typeface="Univers" panose="020B0503020202020204" pitchFamily="34" charset="0"/>
            </a:endParaRPr>
          </a:p>
        </p:txBody>
      </p:sp>
      <p:sp>
        <p:nvSpPr>
          <p:cNvPr id="22" name="Textfeld 21">
            <a:extLst>
              <a:ext uri="{FF2B5EF4-FFF2-40B4-BE49-F238E27FC236}">
                <a16:creationId xmlns:a16="http://schemas.microsoft.com/office/drawing/2014/main" id="{8C74D241-694E-5626-3852-2ED109A6A48C}"/>
              </a:ext>
            </a:extLst>
          </p:cNvPr>
          <p:cNvSpPr txBox="1"/>
          <p:nvPr/>
        </p:nvSpPr>
        <p:spPr>
          <a:xfrm>
            <a:off x="7440509" y="16672622"/>
            <a:ext cx="914400" cy="457200"/>
          </a:xfrm>
          <a:prstGeom prst="rect">
            <a:avLst/>
          </a:prstGeom>
          <a:noFill/>
        </p:spPr>
        <p:txBody>
          <a:bodyPr wrap="none" lIns="0" tIns="0" rIns="0" bIns="0" rtlCol="0">
            <a:noAutofit/>
          </a:bodyPr>
          <a:lstStyle/>
          <a:p>
            <a:pPr>
              <a:buClr>
                <a:schemeClr val="accent1"/>
              </a:buClr>
            </a:pPr>
            <a:r>
              <a:rPr lang="de-DE" sz="1200" dirty="0" err="1">
                <a:latin typeface="Univers" panose="020B0503020202020204" pitchFamily="34" charset="0"/>
              </a:rPr>
              <a:t>Pneumatic</a:t>
            </a:r>
            <a:r>
              <a:rPr lang="de-DE" sz="1200">
                <a:latin typeface="Univers" panose="020B0503020202020204" pitchFamily="34" charset="0"/>
              </a:rPr>
              <a:t> components</a:t>
            </a:r>
            <a:endParaRPr lang="en-GB" sz="1200" dirty="0">
              <a:latin typeface="Univers" panose="020B0503020202020204" pitchFamily="34" charset="0"/>
            </a:endParaRPr>
          </a:p>
        </p:txBody>
      </p:sp>
      <p:sp>
        <p:nvSpPr>
          <p:cNvPr id="23" name="Textfeld 22">
            <a:extLst>
              <a:ext uri="{FF2B5EF4-FFF2-40B4-BE49-F238E27FC236}">
                <a16:creationId xmlns:a16="http://schemas.microsoft.com/office/drawing/2014/main" id="{A5BFFC51-93C5-F9D4-E104-0B95943D0BCB}"/>
              </a:ext>
            </a:extLst>
          </p:cNvPr>
          <p:cNvSpPr txBox="1"/>
          <p:nvPr/>
        </p:nvSpPr>
        <p:spPr>
          <a:xfrm>
            <a:off x="3429986" y="15831631"/>
            <a:ext cx="914400" cy="457200"/>
          </a:xfrm>
          <a:prstGeom prst="rect">
            <a:avLst/>
          </a:prstGeom>
          <a:noFill/>
        </p:spPr>
        <p:txBody>
          <a:bodyPr wrap="none" lIns="0" tIns="0" rIns="0" bIns="0" rtlCol="0">
            <a:noAutofit/>
          </a:bodyPr>
          <a:lstStyle/>
          <a:p>
            <a:pPr>
              <a:buClr>
                <a:schemeClr val="accent1"/>
              </a:buClr>
            </a:pPr>
            <a:r>
              <a:rPr lang="de-DE" sz="1200" dirty="0">
                <a:latin typeface="Univers" panose="020B0503020202020204" pitchFamily="34" charset="0"/>
              </a:rPr>
              <a:t>Electronics </a:t>
            </a:r>
            <a:r>
              <a:rPr lang="de-DE" sz="1200">
                <a:latin typeface="Univers" panose="020B0503020202020204" pitchFamily="34" charset="0"/>
              </a:rPr>
              <a:t>case</a:t>
            </a:r>
            <a:endParaRPr lang="en-GB" sz="1200" dirty="0">
              <a:latin typeface="Univers" panose="020B0503020202020204" pitchFamily="34" charset="0"/>
            </a:endParaRPr>
          </a:p>
        </p:txBody>
      </p:sp>
      <p:sp>
        <p:nvSpPr>
          <p:cNvPr id="24" name="Geschweifte Klammer links 23">
            <a:extLst>
              <a:ext uri="{FF2B5EF4-FFF2-40B4-BE49-F238E27FC236}">
                <a16:creationId xmlns:a16="http://schemas.microsoft.com/office/drawing/2014/main" id="{46F24C9F-4267-30F5-19A6-C5AFF6411EAE}"/>
              </a:ext>
            </a:extLst>
          </p:cNvPr>
          <p:cNvSpPr/>
          <p:nvPr/>
        </p:nvSpPr>
        <p:spPr>
          <a:xfrm rot="10800000">
            <a:off x="7135866" y="14884102"/>
            <a:ext cx="116147" cy="1656000"/>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25" name="Geschweifte Klammer links 24">
            <a:extLst>
              <a:ext uri="{FF2B5EF4-FFF2-40B4-BE49-F238E27FC236}">
                <a16:creationId xmlns:a16="http://schemas.microsoft.com/office/drawing/2014/main" id="{FDD4BE33-3981-CF89-4DF9-B101EB80AB00}"/>
              </a:ext>
            </a:extLst>
          </p:cNvPr>
          <p:cNvSpPr/>
          <p:nvPr/>
        </p:nvSpPr>
        <p:spPr>
          <a:xfrm rot="10800000">
            <a:off x="7136285" y="13957556"/>
            <a:ext cx="115200" cy="900000"/>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26" name="Geschweifte Klammer links 25">
            <a:extLst>
              <a:ext uri="{FF2B5EF4-FFF2-40B4-BE49-F238E27FC236}">
                <a16:creationId xmlns:a16="http://schemas.microsoft.com/office/drawing/2014/main" id="{E1340802-6561-45C6-13EF-3B467D742406}"/>
              </a:ext>
            </a:extLst>
          </p:cNvPr>
          <p:cNvSpPr/>
          <p:nvPr/>
        </p:nvSpPr>
        <p:spPr>
          <a:xfrm rot="10800000">
            <a:off x="7136285" y="16617105"/>
            <a:ext cx="115200" cy="324000"/>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cxnSp>
        <p:nvCxnSpPr>
          <p:cNvPr id="27" name="Verbinder: gewinkelt 26">
            <a:extLst>
              <a:ext uri="{FF2B5EF4-FFF2-40B4-BE49-F238E27FC236}">
                <a16:creationId xmlns:a16="http://schemas.microsoft.com/office/drawing/2014/main" id="{D42A7F6D-00CF-D577-B10E-8D45F2EE17A2}"/>
              </a:ext>
            </a:extLst>
          </p:cNvPr>
          <p:cNvCxnSpPr/>
          <p:nvPr/>
        </p:nvCxnSpPr>
        <p:spPr>
          <a:xfrm>
            <a:off x="3501465" y="14212614"/>
            <a:ext cx="468000" cy="39600"/>
          </a:xfrm>
          <a:prstGeom prst="bentConnector3">
            <a:avLst>
              <a:gd name="adj1" fmla="val 0"/>
            </a:avLst>
          </a:prstGeom>
          <a:ln w="12700">
            <a:solidFill>
              <a:srgbClr val="6D7785"/>
            </a:solidFill>
          </a:ln>
        </p:spPr>
        <p:style>
          <a:lnRef idx="1">
            <a:schemeClr val="accent1"/>
          </a:lnRef>
          <a:fillRef idx="0">
            <a:schemeClr val="accent1"/>
          </a:fillRef>
          <a:effectRef idx="0">
            <a:schemeClr val="accent1"/>
          </a:effectRef>
          <a:fontRef idx="minor">
            <a:schemeClr val="tx1"/>
          </a:fontRef>
        </p:style>
      </p:cxnSp>
      <p:cxnSp>
        <p:nvCxnSpPr>
          <p:cNvPr id="28" name="Verbinder: gewinkelt 27">
            <a:extLst>
              <a:ext uri="{FF2B5EF4-FFF2-40B4-BE49-F238E27FC236}">
                <a16:creationId xmlns:a16="http://schemas.microsoft.com/office/drawing/2014/main" id="{ECEF4916-359B-147D-4D2D-6DE98BEB2088}"/>
              </a:ext>
            </a:extLst>
          </p:cNvPr>
          <p:cNvCxnSpPr>
            <a:cxnSpLocks/>
          </p:cNvCxnSpPr>
          <p:nvPr/>
        </p:nvCxnSpPr>
        <p:spPr>
          <a:xfrm flipH="1">
            <a:off x="3501465" y="14212614"/>
            <a:ext cx="468000" cy="39600"/>
          </a:xfrm>
          <a:prstGeom prst="bentConnector3">
            <a:avLst>
              <a:gd name="adj1" fmla="val 0"/>
            </a:avLst>
          </a:prstGeom>
          <a:ln w="12700">
            <a:solidFill>
              <a:srgbClr val="6D7785"/>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903EC75F-1C8E-444E-97D5-6A5797A02A96}"/>
              </a:ext>
            </a:extLst>
          </p:cNvPr>
          <p:cNvSpPr txBox="1"/>
          <p:nvPr/>
        </p:nvSpPr>
        <p:spPr>
          <a:xfrm>
            <a:off x="3555442" y="14112601"/>
            <a:ext cx="360045" cy="200025"/>
          </a:xfrm>
          <a:prstGeom prst="rect">
            <a:avLst/>
          </a:prstGeom>
          <a:noFill/>
          <a:ln>
            <a:noFill/>
          </a:ln>
        </p:spPr>
        <p:txBody>
          <a:bodyPr wrap="none" lIns="0" tIns="0" rIns="0" bIns="0" rtlCol="0">
            <a:noAutofit/>
          </a:bodyPr>
          <a:lstStyle/>
          <a:p>
            <a:pPr>
              <a:buClr>
                <a:schemeClr val="accent1"/>
              </a:buClr>
            </a:pPr>
            <a:r>
              <a:rPr lang="de-DE" sz="800" dirty="0">
                <a:solidFill>
                  <a:srgbClr val="6D7785"/>
                </a:solidFill>
              </a:rPr>
              <a:t>10 mm</a:t>
            </a:r>
            <a:endParaRPr lang="en-GB" sz="800" dirty="0">
              <a:solidFill>
                <a:srgbClr val="6D7785"/>
              </a:solidFill>
            </a:endParaRPr>
          </a:p>
        </p:txBody>
      </p:sp>
      <p:cxnSp>
        <p:nvCxnSpPr>
          <p:cNvPr id="32" name="Gerade Verbindung mit Pfeil 31">
            <a:extLst>
              <a:ext uri="{FF2B5EF4-FFF2-40B4-BE49-F238E27FC236}">
                <a16:creationId xmlns:a16="http://schemas.microsoft.com/office/drawing/2014/main" id="{31BB8F12-F863-5538-4535-79D2C4BAC69A}"/>
              </a:ext>
            </a:extLst>
          </p:cNvPr>
          <p:cNvCxnSpPr>
            <a:cxnSpLocks/>
          </p:cNvCxnSpPr>
          <p:nvPr/>
        </p:nvCxnSpPr>
        <p:spPr>
          <a:xfrm>
            <a:off x="2371320" y="26162911"/>
            <a:ext cx="0" cy="43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Gerade Verbindung mit Pfeil 32">
            <a:extLst>
              <a:ext uri="{FF2B5EF4-FFF2-40B4-BE49-F238E27FC236}">
                <a16:creationId xmlns:a16="http://schemas.microsoft.com/office/drawing/2014/main" id="{BE950589-3AC3-E623-004B-B02BB9B1A019}"/>
              </a:ext>
            </a:extLst>
          </p:cNvPr>
          <p:cNvCxnSpPr>
            <a:cxnSpLocks/>
          </p:cNvCxnSpPr>
          <p:nvPr/>
        </p:nvCxnSpPr>
        <p:spPr>
          <a:xfrm>
            <a:off x="869971" y="25842088"/>
            <a:ext cx="0" cy="43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Gerade Verbindung mit Pfeil 33">
            <a:extLst>
              <a:ext uri="{FF2B5EF4-FFF2-40B4-BE49-F238E27FC236}">
                <a16:creationId xmlns:a16="http://schemas.microsoft.com/office/drawing/2014/main" id="{3BCBC7E5-E515-DA03-AA35-98520A20E465}"/>
              </a:ext>
            </a:extLst>
          </p:cNvPr>
          <p:cNvCxnSpPr/>
          <p:nvPr/>
        </p:nvCxnSpPr>
        <p:spPr>
          <a:xfrm>
            <a:off x="3715737" y="25259339"/>
            <a:ext cx="0" cy="43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extfeld 34">
            <a:extLst>
              <a:ext uri="{FF2B5EF4-FFF2-40B4-BE49-F238E27FC236}">
                <a16:creationId xmlns:a16="http://schemas.microsoft.com/office/drawing/2014/main" id="{A6DB9808-141B-3F18-927C-FA67B9837D21}"/>
              </a:ext>
            </a:extLst>
          </p:cNvPr>
          <p:cNvSpPr txBox="1"/>
          <p:nvPr/>
        </p:nvSpPr>
        <p:spPr>
          <a:xfrm>
            <a:off x="438423" y="25475339"/>
            <a:ext cx="914400" cy="457200"/>
          </a:xfrm>
          <a:prstGeom prst="rect">
            <a:avLst/>
          </a:prstGeom>
          <a:noFill/>
        </p:spPr>
        <p:txBody>
          <a:bodyPr wrap="none" lIns="0" tIns="0" rIns="0" bIns="0" rtlCol="0">
            <a:noAutofit/>
          </a:bodyPr>
          <a:lstStyle/>
          <a:p>
            <a:pPr algn="ctr">
              <a:buClr>
                <a:schemeClr val="accent1"/>
              </a:buClr>
            </a:pPr>
            <a:r>
              <a:rPr lang="en-US" sz="1200" dirty="0">
                <a:latin typeface="Univers" panose="020B0503020202020204" pitchFamily="34" charset="0"/>
              </a:rPr>
              <a:t>Adjustable </a:t>
            </a:r>
          </a:p>
          <a:p>
            <a:pPr algn="ctr">
              <a:buClr>
                <a:schemeClr val="accent1"/>
              </a:buClr>
            </a:pPr>
            <a:r>
              <a:rPr lang="en-US" sz="1200" dirty="0">
                <a:latin typeface="Univers" panose="020B0503020202020204" pitchFamily="34" charset="0"/>
              </a:rPr>
              <a:t>power source</a:t>
            </a:r>
          </a:p>
        </p:txBody>
      </p:sp>
      <p:sp>
        <p:nvSpPr>
          <p:cNvPr id="36" name="Textfeld 35">
            <a:extLst>
              <a:ext uri="{FF2B5EF4-FFF2-40B4-BE49-F238E27FC236}">
                <a16:creationId xmlns:a16="http://schemas.microsoft.com/office/drawing/2014/main" id="{09063A04-BC66-3BDE-1F9E-38D4095502CA}"/>
              </a:ext>
            </a:extLst>
          </p:cNvPr>
          <p:cNvSpPr txBox="1"/>
          <p:nvPr/>
        </p:nvSpPr>
        <p:spPr>
          <a:xfrm>
            <a:off x="1824813" y="25756493"/>
            <a:ext cx="1093014" cy="457200"/>
          </a:xfrm>
          <a:prstGeom prst="rect">
            <a:avLst/>
          </a:prstGeom>
          <a:noFill/>
        </p:spPr>
        <p:txBody>
          <a:bodyPr wrap="none" lIns="0" tIns="0" rIns="0" bIns="0" rtlCol="0">
            <a:noAutofit/>
          </a:bodyPr>
          <a:lstStyle/>
          <a:p>
            <a:pPr>
              <a:buClr>
                <a:schemeClr val="accent1"/>
              </a:buClr>
            </a:pPr>
            <a:r>
              <a:rPr lang="en-US" sz="1200" dirty="0">
                <a:latin typeface="Univers" panose="020B0503020202020204" pitchFamily="34" charset="0"/>
              </a:rPr>
              <a:t>Motor in angle-</a:t>
            </a:r>
          </a:p>
          <a:p>
            <a:pPr>
              <a:buClr>
                <a:schemeClr val="accent1"/>
              </a:buClr>
            </a:pPr>
            <a:r>
              <a:rPr lang="en-US" sz="1200" dirty="0">
                <a:latin typeface="Univers" panose="020B0503020202020204" pitchFamily="34" charset="0"/>
              </a:rPr>
              <a:t>adjustable case</a:t>
            </a:r>
          </a:p>
        </p:txBody>
      </p:sp>
      <p:sp>
        <p:nvSpPr>
          <p:cNvPr id="37" name="Textfeld 36">
            <a:extLst>
              <a:ext uri="{FF2B5EF4-FFF2-40B4-BE49-F238E27FC236}">
                <a16:creationId xmlns:a16="http://schemas.microsoft.com/office/drawing/2014/main" id="{83B9B112-5DDD-DE1C-25EF-3B9E38FEF063}"/>
              </a:ext>
            </a:extLst>
          </p:cNvPr>
          <p:cNvSpPr txBox="1"/>
          <p:nvPr/>
        </p:nvSpPr>
        <p:spPr>
          <a:xfrm>
            <a:off x="3496435" y="25056637"/>
            <a:ext cx="438603" cy="267256"/>
          </a:xfrm>
          <a:prstGeom prst="rect">
            <a:avLst/>
          </a:prstGeom>
          <a:noFill/>
        </p:spPr>
        <p:txBody>
          <a:bodyPr wrap="none" lIns="0" tIns="0" rIns="0" bIns="0" rtlCol="0">
            <a:noAutofit/>
          </a:bodyPr>
          <a:lstStyle/>
          <a:p>
            <a:pPr>
              <a:buClr>
                <a:schemeClr val="accent1"/>
              </a:buClr>
            </a:pPr>
            <a:r>
              <a:rPr lang="de-DE" sz="1200" dirty="0">
                <a:latin typeface="Univers" panose="020B0503020202020204" pitchFamily="34" charset="0"/>
              </a:rPr>
              <a:t>Mold</a:t>
            </a:r>
            <a:endParaRPr lang="en-GB" sz="1200" dirty="0">
              <a:latin typeface="Univers" panose="020B0503020202020204" pitchFamily="34" charset="0"/>
            </a:endParaRPr>
          </a:p>
        </p:txBody>
      </p:sp>
      <p:cxnSp>
        <p:nvCxnSpPr>
          <p:cNvPr id="38" name="Verbinder: gewinkelt 37">
            <a:extLst>
              <a:ext uri="{FF2B5EF4-FFF2-40B4-BE49-F238E27FC236}">
                <a16:creationId xmlns:a16="http://schemas.microsoft.com/office/drawing/2014/main" id="{9FFCF80C-C11C-F22B-D99D-4C2DB23BC67E}"/>
              </a:ext>
            </a:extLst>
          </p:cNvPr>
          <p:cNvCxnSpPr/>
          <p:nvPr/>
        </p:nvCxnSpPr>
        <p:spPr>
          <a:xfrm>
            <a:off x="488744" y="28259478"/>
            <a:ext cx="540000" cy="39600"/>
          </a:xfrm>
          <a:prstGeom prst="bentConnector3">
            <a:avLst>
              <a:gd name="adj1" fmla="val 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Verbinder: gewinkelt 38">
            <a:extLst>
              <a:ext uri="{FF2B5EF4-FFF2-40B4-BE49-F238E27FC236}">
                <a16:creationId xmlns:a16="http://schemas.microsoft.com/office/drawing/2014/main" id="{0240BE42-4AE8-B226-BE84-C9C127038CB0}"/>
              </a:ext>
            </a:extLst>
          </p:cNvPr>
          <p:cNvCxnSpPr>
            <a:cxnSpLocks/>
          </p:cNvCxnSpPr>
          <p:nvPr/>
        </p:nvCxnSpPr>
        <p:spPr>
          <a:xfrm flipH="1">
            <a:off x="488744" y="28259478"/>
            <a:ext cx="540000" cy="39600"/>
          </a:xfrm>
          <a:prstGeom prst="bentConnector3">
            <a:avLst>
              <a:gd name="adj1" fmla="val 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feld 39">
            <a:extLst>
              <a:ext uri="{FF2B5EF4-FFF2-40B4-BE49-F238E27FC236}">
                <a16:creationId xmlns:a16="http://schemas.microsoft.com/office/drawing/2014/main" id="{FF9A51CF-1CF9-506B-FD34-89F72D24DE4E}"/>
              </a:ext>
            </a:extLst>
          </p:cNvPr>
          <p:cNvSpPr txBox="1"/>
          <p:nvPr/>
        </p:nvSpPr>
        <p:spPr>
          <a:xfrm>
            <a:off x="597749" y="28158731"/>
            <a:ext cx="288032" cy="200025"/>
          </a:xfrm>
          <a:prstGeom prst="rect">
            <a:avLst/>
          </a:prstGeom>
          <a:noFill/>
        </p:spPr>
        <p:txBody>
          <a:bodyPr wrap="none" lIns="0" tIns="0" rIns="0" bIns="0" rtlCol="0">
            <a:noAutofit/>
          </a:bodyPr>
          <a:lstStyle/>
          <a:p>
            <a:pPr>
              <a:buClr>
                <a:schemeClr val="accent1"/>
              </a:buClr>
            </a:pPr>
            <a:r>
              <a:rPr lang="de-DE" sz="800" dirty="0"/>
              <a:t>10 mm</a:t>
            </a:r>
            <a:endParaRPr lang="en-GB" sz="800" dirty="0"/>
          </a:p>
        </p:txBody>
      </p:sp>
      <p:sp>
        <p:nvSpPr>
          <p:cNvPr id="41" name="Pfeil: nach rechts gekrümmt 40">
            <a:extLst>
              <a:ext uri="{FF2B5EF4-FFF2-40B4-BE49-F238E27FC236}">
                <a16:creationId xmlns:a16="http://schemas.microsoft.com/office/drawing/2014/main" id="{98D53D42-6CDB-9B0C-8918-FBE0E4EF7652}"/>
              </a:ext>
            </a:extLst>
          </p:cNvPr>
          <p:cNvSpPr/>
          <p:nvPr/>
        </p:nvSpPr>
        <p:spPr>
          <a:xfrm rot="4387991">
            <a:off x="3034206" y="26481535"/>
            <a:ext cx="129943" cy="232525"/>
          </a:xfrm>
          <a:prstGeom prst="curvedRightArrow">
            <a:avLst>
              <a:gd name="adj1" fmla="val 39606"/>
              <a:gd name="adj2" fmla="val 72061"/>
              <a:gd name="adj3" fmla="val 25000"/>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2" name="Pfeil: nach rechts gekrümmt 41">
            <a:extLst>
              <a:ext uri="{FF2B5EF4-FFF2-40B4-BE49-F238E27FC236}">
                <a16:creationId xmlns:a16="http://schemas.microsoft.com/office/drawing/2014/main" id="{8CF5438B-C882-D2B2-F5AE-D167E8BAAB98}"/>
              </a:ext>
            </a:extLst>
          </p:cNvPr>
          <p:cNvSpPr/>
          <p:nvPr/>
        </p:nvSpPr>
        <p:spPr>
          <a:xfrm rot="15205895">
            <a:off x="3108501" y="26749996"/>
            <a:ext cx="129943" cy="232525"/>
          </a:xfrm>
          <a:prstGeom prst="curvedRightArrow">
            <a:avLst>
              <a:gd name="adj1" fmla="val 37654"/>
              <a:gd name="adj2" fmla="val 72061"/>
              <a:gd name="adj3" fmla="val 39843"/>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cxnSp>
        <p:nvCxnSpPr>
          <p:cNvPr id="43" name="Gerade Verbindung mit Pfeil 42">
            <a:extLst>
              <a:ext uri="{FF2B5EF4-FFF2-40B4-BE49-F238E27FC236}">
                <a16:creationId xmlns:a16="http://schemas.microsoft.com/office/drawing/2014/main" id="{075EDB39-78BE-1834-D4EB-9D06D858CF69}"/>
              </a:ext>
            </a:extLst>
          </p:cNvPr>
          <p:cNvCxnSpPr>
            <a:cxnSpLocks/>
          </p:cNvCxnSpPr>
          <p:nvPr/>
        </p:nvCxnSpPr>
        <p:spPr>
          <a:xfrm flipV="1">
            <a:off x="3301714" y="27475711"/>
            <a:ext cx="0" cy="43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Textfeld 45">
            <a:extLst>
              <a:ext uri="{FF2B5EF4-FFF2-40B4-BE49-F238E27FC236}">
                <a16:creationId xmlns:a16="http://schemas.microsoft.com/office/drawing/2014/main" id="{3906CCCC-7589-B628-8EB1-756EA02E8ACE}"/>
              </a:ext>
            </a:extLst>
          </p:cNvPr>
          <p:cNvSpPr txBox="1"/>
          <p:nvPr/>
        </p:nvSpPr>
        <p:spPr>
          <a:xfrm>
            <a:off x="3973472" y="29825043"/>
            <a:ext cx="438603" cy="267256"/>
          </a:xfrm>
          <a:prstGeom prst="rect">
            <a:avLst/>
          </a:prstGeom>
          <a:noFill/>
        </p:spPr>
        <p:txBody>
          <a:bodyPr wrap="none" lIns="0" tIns="0" rIns="0" bIns="0" rtlCol="0">
            <a:noAutofit/>
          </a:bodyPr>
          <a:lstStyle/>
          <a:p>
            <a:pPr>
              <a:buClr>
                <a:schemeClr val="accent1"/>
              </a:buClr>
            </a:pPr>
            <a:endParaRPr lang="en-GB" sz="1200" dirty="0">
              <a:latin typeface="Univers" panose="020B0503020202020204" pitchFamily="34" charset="0"/>
            </a:endParaRPr>
          </a:p>
        </p:txBody>
      </p:sp>
      <p:sp>
        <p:nvSpPr>
          <p:cNvPr id="59" name="Textfeld 58">
            <a:extLst>
              <a:ext uri="{FF2B5EF4-FFF2-40B4-BE49-F238E27FC236}">
                <a16:creationId xmlns:a16="http://schemas.microsoft.com/office/drawing/2014/main" id="{B776BE52-54D0-6A26-DC68-EAD83A51B6B6}"/>
              </a:ext>
            </a:extLst>
          </p:cNvPr>
          <p:cNvSpPr txBox="1"/>
          <p:nvPr/>
        </p:nvSpPr>
        <p:spPr>
          <a:xfrm>
            <a:off x="3037217" y="27912009"/>
            <a:ext cx="525563" cy="267256"/>
          </a:xfrm>
          <a:prstGeom prst="rect">
            <a:avLst/>
          </a:prstGeom>
          <a:noFill/>
        </p:spPr>
        <p:txBody>
          <a:bodyPr wrap="none" lIns="0" tIns="0" rIns="0" bIns="0" rtlCol="0">
            <a:noAutofit/>
          </a:bodyPr>
          <a:lstStyle/>
          <a:p>
            <a:pPr>
              <a:buClr>
                <a:schemeClr val="accent1"/>
              </a:buClr>
            </a:pPr>
            <a:r>
              <a:rPr lang="en-US" sz="1200" dirty="0">
                <a:latin typeface="Univers" panose="020B0503020202020204" pitchFamily="34" charset="0"/>
              </a:rPr>
              <a:t>Bearing</a:t>
            </a:r>
          </a:p>
        </p:txBody>
      </p:sp>
      <p:pic>
        <p:nvPicPr>
          <p:cNvPr id="463" name="Inhaltsplatzhalter 7" descr="Ein Bild, das Im Haus, Ofen enthält.&#10;&#10;Automatisch generierte Beschreibung">
            <a:extLst>
              <a:ext uri="{FF2B5EF4-FFF2-40B4-BE49-F238E27FC236}">
                <a16:creationId xmlns:a16="http://schemas.microsoft.com/office/drawing/2014/main" id="{0E5FB892-AE8F-5549-1574-8D7CF3D67C0E}"/>
              </a:ext>
            </a:extLst>
          </p:cNvPr>
          <p:cNvPicPr>
            <a:picLocks noChangeAspect="1"/>
          </p:cNvPicPr>
          <p:nvPr/>
        </p:nvPicPr>
        <p:blipFill rotWithShape="1">
          <a:blip r:embed="rId9"/>
          <a:srcRect l="23708" t="35074" r="18978" b="24802"/>
          <a:stretch/>
        </p:blipFill>
        <p:spPr>
          <a:xfrm>
            <a:off x="10907837" y="19815820"/>
            <a:ext cx="10145473" cy="4733986"/>
          </a:xfrm>
          <a:prstGeom prst="rect">
            <a:avLst/>
          </a:prstGeom>
        </p:spPr>
      </p:pic>
      <p:cxnSp>
        <p:nvCxnSpPr>
          <p:cNvPr id="464" name="Verbinder: gewinkelt 463">
            <a:extLst>
              <a:ext uri="{FF2B5EF4-FFF2-40B4-BE49-F238E27FC236}">
                <a16:creationId xmlns:a16="http://schemas.microsoft.com/office/drawing/2014/main" id="{2EB377F3-97BD-47E6-2F26-AE3A6B842B99}"/>
              </a:ext>
            </a:extLst>
          </p:cNvPr>
          <p:cNvCxnSpPr>
            <a:cxnSpLocks/>
          </p:cNvCxnSpPr>
          <p:nvPr/>
        </p:nvCxnSpPr>
        <p:spPr>
          <a:xfrm>
            <a:off x="11195868" y="24334354"/>
            <a:ext cx="396000" cy="72000"/>
          </a:xfrm>
          <a:prstGeom prst="bentConnector3">
            <a:avLst>
              <a:gd name="adj1" fmla="val 164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5" name="Verbinder: gewinkelt 464">
            <a:extLst>
              <a:ext uri="{FF2B5EF4-FFF2-40B4-BE49-F238E27FC236}">
                <a16:creationId xmlns:a16="http://schemas.microsoft.com/office/drawing/2014/main" id="{151CF501-EC4C-1F47-F82D-54AE66E8D937}"/>
              </a:ext>
            </a:extLst>
          </p:cNvPr>
          <p:cNvCxnSpPr>
            <a:cxnSpLocks/>
          </p:cNvCxnSpPr>
          <p:nvPr/>
        </p:nvCxnSpPr>
        <p:spPr>
          <a:xfrm rot="10800000" flipV="1">
            <a:off x="11216563" y="24334355"/>
            <a:ext cx="720000" cy="72008"/>
          </a:xfrm>
          <a:prstGeom prst="bentConnector3">
            <a:avLst>
              <a:gd name="adj1" fmla="val 937"/>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6" name="Textfeld 465">
            <a:extLst>
              <a:ext uri="{FF2B5EF4-FFF2-40B4-BE49-F238E27FC236}">
                <a16:creationId xmlns:a16="http://schemas.microsoft.com/office/drawing/2014/main" id="{04B825DD-54EB-D211-2383-9F83ABAB3053}"/>
              </a:ext>
            </a:extLst>
          </p:cNvPr>
          <p:cNvSpPr txBox="1"/>
          <p:nvPr/>
        </p:nvSpPr>
        <p:spPr>
          <a:xfrm>
            <a:off x="11323856" y="24206338"/>
            <a:ext cx="433323" cy="200025"/>
          </a:xfrm>
          <a:prstGeom prst="rect">
            <a:avLst/>
          </a:prstGeom>
          <a:noFill/>
        </p:spPr>
        <p:txBody>
          <a:bodyPr wrap="none" lIns="0" tIns="0" rIns="0" bIns="0" rtlCol="0">
            <a:noAutofit/>
          </a:bodyPr>
          <a:lstStyle/>
          <a:p>
            <a:pPr>
              <a:buClr>
                <a:schemeClr val="accent1"/>
              </a:buClr>
            </a:pPr>
            <a:r>
              <a:rPr lang="de-DE" sz="1200" dirty="0"/>
              <a:t>10 mm</a:t>
            </a:r>
            <a:endParaRPr lang="en-GB" sz="1200" dirty="0"/>
          </a:p>
        </p:txBody>
      </p:sp>
      <p:sp>
        <p:nvSpPr>
          <p:cNvPr id="467" name="Text Box 20">
            <a:extLst>
              <a:ext uri="{FF2B5EF4-FFF2-40B4-BE49-F238E27FC236}">
                <a16:creationId xmlns:a16="http://schemas.microsoft.com/office/drawing/2014/main" id="{D3A820DD-F831-E567-C9E1-482D43B570A3}"/>
              </a:ext>
            </a:extLst>
          </p:cNvPr>
          <p:cNvSpPr txBox="1">
            <a:spLocks noChangeArrowheads="1"/>
          </p:cNvSpPr>
          <p:nvPr/>
        </p:nvSpPr>
        <p:spPr bwMode="auto">
          <a:xfrm>
            <a:off x="12198919" y="20516804"/>
            <a:ext cx="1346081"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200" dirty="0">
                <a:latin typeface="Univers" panose="020B0503020202020204" pitchFamily="34" charset="0"/>
                <a:cs typeface="Times New Roman" panose="02020603050405020304" pitchFamily="18" charset="0"/>
              </a:rPr>
              <a:t>Vacuum Pump</a:t>
            </a:r>
            <a:endParaRPr kumimoji="0" lang="en-US" altLang="en-US" sz="1200" b="0" i="0" u="none" strike="noStrike" cap="none" normalizeH="0" baseline="0" dirty="0">
              <a:ln>
                <a:noFill/>
              </a:ln>
              <a:effectLst/>
              <a:latin typeface="Arial" panose="020B0604020202020204" pitchFamily="34" charset="0"/>
            </a:endParaRPr>
          </a:p>
        </p:txBody>
      </p:sp>
      <p:sp>
        <p:nvSpPr>
          <p:cNvPr id="468" name="Geschweifte Klammer links 467">
            <a:extLst>
              <a:ext uri="{FF2B5EF4-FFF2-40B4-BE49-F238E27FC236}">
                <a16:creationId xmlns:a16="http://schemas.microsoft.com/office/drawing/2014/main" id="{92906CC5-E4D7-83E9-8ED7-2ACEA541B126}"/>
              </a:ext>
            </a:extLst>
          </p:cNvPr>
          <p:cNvSpPr/>
          <p:nvPr/>
        </p:nvSpPr>
        <p:spPr>
          <a:xfrm rot="5400000">
            <a:off x="12711650" y="19742106"/>
            <a:ext cx="78700" cy="2200321"/>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69" name="Geschweifte Klammer links 468">
            <a:extLst>
              <a:ext uri="{FF2B5EF4-FFF2-40B4-BE49-F238E27FC236}">
                <a16:creationId xmlns:a16="http://schemas.microsoft.com/office/drawing/2014/main" id="{57D28901-1C80-1D2E-9B56-F00F1540CB17}"/>
              </a:ext>
            </a:extLst>
          </p:cNvPr>
          <p:cNvSpPr/>
          <p:nvPr/>
        </p:nvSpPr>
        <p:spPr>
          <a:xfrm rot="5400000">
            <a:off x="15723097" y="19319513"/>
            <a:ext cx="127723" cy="3094529"/>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470" name="Geschweifte Klammer links 469">
            <a:extLst>
              <a:ext uri="{FF2B5EF4-FFF2-40B4-BE49-F238E27FC236}">
                <a16:creationId xmlns:a16="http://schemas.microsoft.com/office/drawing/2014/main" id="{09570AB5-B589-B4DB-F4B8-EBBF7041ADB4}"/>
              </a:ext>
            </a:extLst>
          </p:cNvPr>
          <p:cNvSpPr/>
          <p:nvPr/>
        </p:nvSpPr>
        <p:spPr>
          <a:xfrm rot="5400000">
            <a:off x="18052122" y="20467887"/>
            <a:ext cx="94027" cy="778060"/>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471" name="Geschweifte Klammer links 470">
            <a:extLst>
              <a:ext uri="{FF2B5EF4-FFF2-40B4-BE49-F238E27FC236}">
                <a16:creationId xmlns:a16="http://schemas.microsoft.com/office/drawing/2014/main" id="{7C9BE0C2-30DC-4F18-846E-5532DCEEE3B4}"/>
              </a:ext>
            </a:extLst>
          </p:cNvPr>
          <p:cNvSpPr/>
          <p:nvPr/>
        </p:nvSpPr>
        <p:spPr>
          <a:xfrm rot="5400000">
            <a:off x="19383291" y="20358897"/>
            <a:ext cx="94028" cy="996041"/>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472" name="Text Box 20">
            <a:extLst>
              <a:ext uri="{FF2B5EF4-FFF2-40B4-BE49-F238E27FC236}">
                <a16:creationId xmlns:a16="http://schemas.microsoft.com/office/drawing/2014/main" id="{7A948F1C-4C4B-88B4-7DD3-11A314895B88}"/>
              </a:ext>
            </a:extLst>
          </p:cNvPr>
          <p:cNvSpPr txBox="1">
            <a:spLocks noChangeArrowheads="1"/>
          </p:cNvSpPr>
          <p:nvPr/>
        </p:nvSpPr>
        <p:spPr bwMode="auto">
          <a:xfrm>
            <a:off x="14629727" y="20513338"/>
            <a:ext cx="2480189" cy="358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effectLst/>
                <a:latin typeface="Univers" panose="020B0503020202020204" pitchFamily="34" charset="0"/>
                <a:cs typeface="Times New Roman" panose="02020603050405020304" pitchFamily="18" charset="0"/>
              </a:rPr>
              <a:t>Granular Ja</a:t>
            </a:r>
            <a:r>
              <a:rPr lang="en-US" altLang="en-US" sz="1200" dirty="0">
                <a:latin typeface="Univers" panose="020B0503020202020204" pitchFamily="34" charset="0"/>
                <a:cs typeface="Times New Roman" panose="02020603050405020304" pitchFamily="18" charset="0"/>
              </a:rPr>
              <a:t>mming Gripper</a:t>
            </a:r>
            <a:endParaRPr kumimoji="0" lang="en-US" altLang="en-US" sz="1200" b="0" i="0" u="none" strike="noStrike" cap="none" normalizeH="0" baseline="0" dirty="0">
              <a:ln>
                <a:noFill/>
              </a:ln>
              <a:effectLst/>
              <a:latin typeface="Arial" panose="020B0604020202020204" pitchFamily="34" charset="0"/>
            </a:endParaRPr>
          </a:p>
        </p:txBody>
      </p:sp>
      <p:sp>
        <p:nvSpPr>
          <p:cNvPr id="473" name="Text Box 20">
            <a:extLst>
              <a:ext uri="{FF2B5EF4-FFF2-40B4-BE49-F238E27FC236}">
                <a16:creationId xmlns:a16="http://schemas.microsoft.com/office/drawing/2014/main" id="{F4B9932A-4FF0-4963-060A-674DD5176DE8}"/>
              </a:ext>
            </a:extLst>
          </p:cNvPr>
          <p:cNvSpPr txBox="1">
            <a:spLocks noChangeArrowheads="1"/>
          </p:cNvSpPr>
          <p:nvPr/>
        </p:nvSpPr>
        <p:spPr bwMode="auto">
          <a:xfrm>
            <a:off x="17161170" y="20338243"/>
            <a:ext cx="1875929" cy="2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effectLst/>
                <a:latin typeface="Univers" panose="020B0503020202020204" pitchFamily="34" charset="0"/>
                <a:cs typeface="Times New Roman" panose="02020603050405020304" pitchFamily="18" charset="0"/>
              </a:rPr>
              <a:t>Electronics </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200" dirty="0">
                <a:latin typeface="Univers" panose="020B0503020202020204" pitchFamily="34" charset="0"/>
                <a:cs typeface="Times New Roman" panose="02020603050405020304" pitchFamily="18" charset="0"/>
              </a:rPr>
              <a:t>C</a:t>
            </a:r>
            <a:r>
              <a:rPr kumimoji="0" lang="en-US" altLang="en-US" sz="1200" b="0" i="0" u="none" strike="noStrike" cap="none" normalizeH="0" baseline="0" dirty="0">
                <a:ln>
                  <a:noFill/>
                </a:ln>
                <a:effectLst/>
                <a:latin typeface="Univers" panose="020B0503020202020204" pitchFamily="34" charset="0"/>
                <a:cs typeface="Times New Roman" panose="02020603050405020304" pitchFamily="18" charset="0"/>
              </a:rPr>
              <a:t>ase</a:t>
            </a:r>
            <a:endParaRPr kumimoji="0" lang="en-US" altLang="en-US" sz="1200" b="0" i="0" u="none" strike="noStrike" cap="none" normalizeH="0" baseline="0" dirty="0">
              <a:ln>
                <a:noFill/>
              </a:ln>
              <a:effectLst/>
              <a:latin typeface="Arial" panose="020B0604020202020204" pitchFamily="34" charset="0"/>
            </a:endParaRPr>
          </a:p>
        </p:txBody>
      </p:sp>
      <p:sp>
        <p:nvSpPr>
          <p:cNvPr id="474" name="Text Box 20">
            <a:extLst>
              <a:ext uri="{FF2B5EF4-FFF2-40B4-BE49-F238E27FC236}">
                <a16:creationId xmlns:a16="http://schemas.microsoft.com/office/drawing/2014/main" id="{BAD041A5-0868-6129-34A6-641F8BC3B5B3}"/>
              </a:ext>
            </a:extLst>
          </p:cNvPr>
          <p:cNvSpPr txBox="1">
            <a:spLocks noChangeArrowheads="1"/>
          </p:cNvSpPr>
          <p:nvPr/>
        </p:nvSpPr>
        <p:spPr bwMode="auto">
          <a:xfrm>
            <a:off x="18886176" y="20509723"/>
            <a:ext cx="1346081"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effectLst/>
                <a:latin typeface="Univers" panose="020B0503020202020204" pitchFamily="34" charset="0"/>
                <a:cs typeface="Times New Roman" panose="02020603050405020304" pitchFamily="18" charset="0"/>
              </a:rPr>
              <a:t>Power Source</a:t>
            </a:r>
            <a:endParaRPr kumimoji="0" lang="en-US" altLang="en-US" sz="1200" b="0" i="0" u="none" strike="noStrike" cap="none" normalizeH="0" baseline="0" dirty="0">
              <a:ln>
                <a:noFill/>
              </a:ln>
              <a:effectLst/>
              <a:latin typeface="Arial" panose="020B0604020202020204" pitchFamily="34" charset="0"/>
            </a:endParaRPr>
          </a:p>
        </p:txBody>
      </p:sp>
      <p:sp>
        <p:nvSpPr>
          <p:cNvPr id="491" name="Textfeld 490">
            <a:extLst>
              <a:ext uri="{FF2B5EF4-FFF2-40B4-BE49-F238E27FC236}">
                <a16:creationId xmlns:a16="http://schemas.microsoft.com/office/drawing/2014/main" id="{02CF5E56-3994-B1EE-6662-76E7AE1CD406}"/>
              </a:ext>
            </a:extLst>
          </p:cNvPr>
          <p:cNvSpPr txBox="1"/>
          <p:nvPr/>
        </p:nvSpPr>
        <p:spPr>
          <a:xfrm>
            <a:off x="3915650" y="15472455"/>
            <a:ext cx="914400" cy="457200"/>
          </a:xfrm>
          <a:prstGeom prst="rect">
            <a:avLst/>
          </a:prstGeom>
          <a:noFill/>
        </p:spPr>
        <p:txBody>
          <a:bodyPr wrap="none" lIns="0" tIns="0" rIns="0" bIns="0" rtlCol="0">
            <a:noAutofit/>
          </a:bodyPr>
          <a:lstStyle/>
          <a:p>
            <a:pPr>
              <a:buClr>
                <a:schemeClr val="accent1"/>
              </a:buClr>
            </a:pPr>
            <a:r>
              <a:rPr lang="de-DE" sz="1200" dirty="0">
                <a:latin typeface="Univers" panose="020B0503020202020204" pitchFamily="34" charset="0"/>
              </a:rPr>
              <a:t>Latex </a:t>
            </a:r>
            <a:r>
              <a:rPr lang="de-DE" sz="1200">
                <a:latin typeface="Univers" panose="020B0503020202020204" pitchFamily="34" charset="0"/>
              </a:rPr>
              <a:t>sheet</a:t>
            </a:r>
            <a:endParaRPr lang="en-GB" sz="1200" dirty="0">
              <a:latin typeface="Univers" panose="020B0503020202020204" pitchFamily="34" charset="0"/>
            </a:endParaRPr>
          </a:p>
        </p:txBody>
      </p:sp>
      <p:cxnSp>
        <p:nvCxnSpPr>
          <p:cNvPr id="492" name="Gerade Verbindung mit Pfeil 491">
            <a:extLst>
              <a:ext uri="{FF2B5EF4-FFF2-40B4-BE49-F238E27FC236}">
                <a16:creationId xmlns:a16="http://schemas.microsoft.com/office/drawing/2014/main" id="{44C6F6FD-88F6-4198-D7CB-DE49C6F5DD1E}"/>
              </a:ext>
            </a:extLst>
          </p:cNvPr>
          <p:cNvCxnSpPr>
            <a:cxnSpLocks/>
          </p:cNvCxnSpPr>
          <p:nvPr/>
        </p:nvCxnSpPr>
        <p:spPr>
          <a:xfrm>
            <a:off x="4793805" y="15666486"/>
            <a:ext cx="371709" cy="21362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5" name="Gerade Verbindung mit Pfeil 494">
            <a:extLst>
              <a:ext uri="{FF2B5EF4-FFF2-40B4-BE49-F238E27FC236}">
                <a16:creationId xmlns:a16="http://schemas.microsoft.com/office/drawing/2014/main" id="{7F5BFDE0-D72D-4E63-42C6-8F5AF4152C71}"/>
              </a:ext>
            </a:extLst>
          </p:cNvPr>
          <p:cNvCxnSpPr>
            <a:cxnSpLocks/>
          </p:cNvCxnSpPr>
          <p:nvPr/>
        </p:nvCxnSpPr>
        <p:spPr>
          <a:xfrm flipV="1">
            <a:off x="4979659" y="16687900"/>
            <a:ext cx="544142" cy="59474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8" name="Gerade Verbindung mit Pfeil 497">
            <a:extLst>
              <a:ext uri="{FF2B5EF4-FFF2-40B4-BE49-F238E27FC236}">
                <a16:creationId xmlns:a16="http://schemas.microsoft.com/office/drawing/2014/main" id="{24E4EC95-AADD-85E6-7A89-0D60B5A2685E}"/>
              </a:ext>
            </a:extLst>
          </p:cNvPr>
          <p:cNvCxnSpPr>
            <a:cxnSpLocks/>
          </p:cNvCxnSpPr>
          <p:nvPr/>
        </p:nvCxnSpPr>
        <p:spPr>
          <a:xfrm flipV="1">
            <a:off x="6137364" y="16869571"/>
            <a:ext cx="230587" cy="37046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0" name="Gerade Verbindung mit Pfeil 499">
            <a:extLst>
              <a:ext uri="{FF2B5EF4-FFF2-40B4-BE49-F238E27FC236}">
                <a16:creationId xmlns:a16="http://schemas.microsoft.com/office/drawing/2014/main" id="{CEAB019B-B073-8A2A-9C59-E96EA33255A8}"/>
              </a:ext>
            </a:extLst>
          </p:cNvPr>
          <p:cNvCxnSpPr>
            <a:cxnSpLocks/>
          </p:cNvCxnSpPr>
          <p:nvPr/>
        </p:nvCxnSpPr>
        <p:spPr>
          <a:xfrm flipH="1" flipV="1">
            <a:off x="6108301" y="16805708"/>
            <a:ext cx="29063" cy="43222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3" name="Textfeld 502">
            <a:extLst>
              <a:ext uri="{FF2B5EF4-FFF2-40B4-BE49-F238E27FC236}">
                <a16:creationId xmlns:a16="http://schemas.microsoft.com/office/drawing/2014/main" id="{0D37DE4D-845F-F96C-A4A0-C7C94EF935B3}"/>
              </a:ext>
            </a:extLst>
          </p:cNvPr>
          <p:cNvSpPr txBox="1"/>
          <p:nvPr/>
        </p:nvSpPr>
        <p:spPr>
          <a:xfrm>
            <a:off x="2513095" y="16687900"/>
            <a:ext cx="614508" cy="318301"/>
          </a:xfrm>
          <a:prstGeom prst="rect">
            <a:avLst/>
          </a:prstGeom>
          <a:noFill/>
        </p:spPr>
        <p:txBody>
          <a:bodyPr wrap="none" lIns="0" tIns="0" rIns="0" bIns="0" rtlCol="0">
            <a:noAutofit/>
          </a:bodyPr>
          <a:lstStyle/>
          <a:p>
            <a:pPr>
              <a:buClr>
                <a:schemeClr val="accent1"/>
              </a:buClr>
            </a:pPr>
            <a:r>
              <a:rPr lang="de-DE" sz="1200" dirty="0">
                <a:latin typeface="Univers" panose="020B0503020202020204" pitchFamily="34" charset="0"/>
              </a:rPr>
              <a:t>Foot pedal</a:t>
            </a:r>
            <a:endParaRPr lang="en-GB" sz="1200" dirty="0">
              <a:latin typeface="Univers" panose="020B0503020202020204" pitchFamily="34" charset="0"/>
            </a:endParaRPr>
          </a:p>
        </p:txBody>
      </p:sp>
      <p:sp>
        <p:nvSpPr>
          <p:cNvPr id="504" name="Textfeld 503">
            <a:extLst>
              <a:ext uri="{FF2B5EF4-FFF2-40B4-BE49-F238E27FC236}">
                <a16:creationId xmlns:a16="http://schemas.microsoft.com/office/drawing/2014/main" id="{12444718-8B7C-4D51-C469-622CE7B036F2}"/>
              </a:ext>
            </a:extLst>
          </p:cNvPr>
          <p:cNvSpPr txBox="1"/>
          <p:nvPr/>
        </p:nvSpPr>
        <p:spPr>
          <a:xfrm>
            <a:off x="4585058" y="17321602"/>
            <a:ext cx="614508" cy="318301"/>
          </a:xfrm>
          <a:prstGeom prst="rect">
            <a:avLst/>
          </a:prstGeom>
          <a:noFill/>
        </p:spPr>
        <p:txBody>
          <a:bodyPr wrap="none" lIns="0" tIns="0" rIns="0" bIns="0" rtlCol="0">
            <a:noAutofit/>
          </a:bodyPr>
          <a:lstStyle/>
          <a:p>
            <a:pPr>
              <a:buClr>
                <a:schemeClr val="accent1"/>
              </a:buClr>
            </a:pPr>
            <a:r>
              <a:rPr lang="de-DE" sz="1200" dirty="0">
                <a:latin typeface="Univers" panose="020B0503020202020204" pitchFamily="34" charset="0"/>
              </a:rPr>
              <a:t>Air </a:t>
            </a:r>
            <a:r>
              <a:rPr lang="de-DE" sz="1200">
                <a:latin typeface="Univers" panose="020B0503020202020204" pitchFamily="34" charset="0"/>
              </a:rPr>
              <a:t>filter</a:t>
            </a:r>
            <a:endParaRPr lang="en-GB" sz="1200" dirty="0">
              <a:latin typeface="Univers" panose="020B0503020202020204" pitchFamily="34" charset="0"/>
            </a:endParaRPr>
          </a:p>
        </p:txBody>
      </p:sp>
      <p:sp>
        <p:nvSpPr>
          <p:cNvPr id="505" name="Textfeld 504">
            <a:extLst>
              <a:ext uri="{FF2B5EF4-FFF2-40B4-BE49-F238E27FC236}">
                <a16:creationId xmlns:a16="http://schemas.microsoft.com/office/drawing/2014/main" id="{0E275C41-43A6-810D-79F7-D86080149635}"/>
              </a:ext>
            </a:extLst>
          </p:cNvPr>
          <p:cNvSpPr txBox="1"/>
          <p:nvPr/>
        </p:nvSpPr>
        <p:spPr>
          <a:xfrm>
            <a:off x="7471988" y="15611354"/>
            <a:ext cx="614508" cy="318301"/>
          </a:xfrm>
          <a:prstGeom prst="rect">
            <a:avLst/>
          </a:prstGeom>
          <a:noFill/>
        </p:spPr>
        <p:txBody>
          <a:bodyPr wrap="none" lIns="0" tIns="0" rIns="0" bIns="0" rtlCol="0">
            <a:noAutofit/>
          </a:bodyPr>
          <a:lstStyle/>
          <a:p>
            <a:pPr>
              <a:buClr>
                <a:schemeClr val="accent1"/>
              </a:buClr>
            </a:pPr>
            <a:r>
              <a:rPr lang="de-DE" sz="1200" dirty="0">
                <a:latin typeface="Univers" panose="020B0503020202020204" pitchFamily="34" charset="0"/>
              </a:rPr>
              <a:t>Base</a:t>
            </a:r>
            <a:endParaRPr lang="en-GB" sz="1200" dirty="0">
              <a:latin typeface="Univers" panose="020B0503020202020204" pitchFamily="34" charset="0"/>
            </a:endParaRPr>
          </a:p>
        </p:txBody>
      </p:sp>
      <p:cxnSp>
        <p:nvCxnSpPr>
          <p:cNvPr id="506" name="Gerade Verbindung mit Pfeil 505">
            <a:extLst>
              <a:ext uri="{FF2B5EF4-FFF2-40B4-BE49-F238E27FC236}">
                <a16:creationId xmlns:a16="http://schemas.microsoft.com/office/drawing/2014/main" id="{6CE13C66-4ED0-AF86-BF96-09003DA6AF60}"/>
              </a:ext>
            </a:extLst>
          </p:cNvPr>
          <p:cNvCxnSpPr>
            <a:cxnSpLocks/>
          </p:cNvCxnSpPr>
          <p:nvPr/>
        </p:nvCxnSpPr>
        <p:spPr>
          <a:xfrm>
            <a:off x="3365314" y="16805708"/>
            <a:ext cx="393443" cy="9201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9" name="Text Box 24">
            <a:extLst>
              <a:ext uri="{FF2B5EF4-FFF2-40B4-BE49-F238E27FC236}">
                <a16:creationId xmlns:a16="http://schemas.microsoft.com/office/drawing/2014/main" id="{7DD0375B-BB15-9325-8A6E-8345156A91A3}"/>
              </a:ext>
            </a:extLst>
          </p:cNvPr>
          <p:cNvSpPr txBox="1"/>
          <p:nvPr/>
        </p:nvSpPr>
        <p:spPr>
          <a:xfrm>
            <a:off x="4906567" y="28619959"/>
            <a:ext cx="5785245" cy="1477328"/>
          </a:xfrm>
          <a:prstGeom prst="rect">
            <a:avLst/>
          </a:prstGeom>
          <a:noFill/>
          <a:ln>
            <a:noFill/>
          </a:ln>
          <a:effectLst/>
        </p:spPr>
        <p:txBody>
          <a:bodyPr rot="0" spcFirstLastPara="0" vert="horz" wrap="square" lIns="0" tIns="0" rIns="0" bIns="0" numCol="1" spcCol="0" rtlCol="0" fromWordArt="0" anchor="t" anchorCtr="0" forceAA="0" compatLnSpc="1">
            <a:prstTxWarp prst="textNoShape">
              <a:avLst/>
            </a:prstTxWarp>
            <a:spAutoFit/>
          </a:bodyPr>
          <a:lstStyle/>
          <a:p>
            <a:pPr algn="ctr">
              <a:spcAft>
                <a:spcPts val="706"/>
              </a:spcAft>
            </a:pPr>
            <a:r>
              <a:rPr lang="en-NZ" sz="2400" dirty="0">
                <a:latin typeface="Segoe UI Light" panose="020B0502040204020203" pitchFamily="34" charset="0"/>
                <a:ea typeface="Calibri" panose="020F0502020204030204" pitchFamily="34" charset="0"/>
                <a:cs typeface="Segoe UI Light" panose="020B0502040204020203" pitchFamily="34" charset="0"/>
              </a:rPr>
              <a:t>Figure 3: Model of the 95</a:t>
            </a:r>
            <a:r>
              <a:rPr lang="en-NZ" sz="2400" baseline="30000" dirty="0">
                <a:latin typeface="Segoe UI Light" panose="020B0502040204020203" pitchFamily="34" charset="0"/>
                <a:ea typeface="Calibri" panose="020F0502020204030204" pitchFamily="34" charset="0"/>
                <a:cs typeface="Segoe UI Light" panose="020B0502040204020203" pitchFamily="34" charset="0"/>
              </a:rPr>
              <a:t>th</a:t>
            </a:r>
            <a:r>
              <a:rPr lang="en-NZ" sz="2400" dirty="0">
                <a:latin typeface="Segoe UI Light" panose="020B0502040204020203" pitchFamily="34" charset="0"/>
                <a:ea typeface="Calibri" panose="020F0502020204030204" pitchFamily="34" charset="0"/>
                <a:cs typeface="Segoe UI Light" panose="020B0502040204020203" pitchFamily="34" charset="0"/>
              </a:rPr>
              <a:t> percentile German male foot immersed in the GJG </a:t>
            </a:r>
            <a:br>
              <a:rPr lang="en-NZ" sz="2400" dirty="0">
                <a:latin typeface="Segoe UI Light" panose="020B0502040204020203" pitchFamily="34" charset="0"/>
                <a:ea typeface="Calibri" panose="020F0502020204030204" pitchFamily="34" charset="0"/>
                <a:cs typeface="Segoe UI Light" panose="020B0502040204020203" pitchFamily="34" charset="0"/>
              </a:rPr>
            </a:br>
            <a:r>
              <a:rPr lang="en-NZ" sz="2400" dirty="0">
                <a:latin typeface="Segoe UI Light" panose="020B0502040204020203" pitchFamily="34" charset="0"/>
                <a:ea typeface="Calibri" panose="020F0502020204030204" pitchFamily="34" charset="0"/>
                <a:cs typeface="Segoe UI Light" panose="020B0502040204020203" pitchFamily="34" charset="0"/>
              </a:rPr>
              <a:t>for pull test. A) GJG in aerated state. </a:t>
            </a:r>
            <a:br>
              <a:rPr lang="en-NZ" sz="2400" dirty="0">
                <a:latin typeface="Segoe UI Light" panose="020B0502040204020203" pitchFamily="34" charset="0"/>
                <a:ea typeface="Calibri" panose="020F0502020204030204" pitchFamily="34" charset="0"/>
                <a:cs typeface="Segoe UI Light" panose="020B0502040204020203" pitchFamily="34" charset="0"/>
              </a:rPr>
            </a:br>
            <a:r>
              <a:rPr lang="en-NZ" sz="2400" dirty="0">
                <a:latin typeface="Segoe UI Light" panose="020B0502040204020203" pitchFamily="34" charset="0"/>
                <a:ea typeface="Calibri" panose="020F0502020204030204" pitchFamily="34" charset="0"/>
                <a:cs typeface="Segoe UI Light" panose="020B0502040204020203" pitchFamily="34" charset="0"/>
              </a:rPr>
              <a:t>B) GJG in jammed state</a:t>
            </a:r>
          </a:p>
        </p:txBody>
      </p:sp>
      <p:grpSp>
        <p:nvGrpSpPr>
          <p:cNvPr id="17" name="Group 49">
            <a:extLst>
              <a:ext uri="{FF2B5EF4-FFF2-40B4-BE49-F238E27FC236}">
                <a16:creationId xmlns:a16="http://schemas.microsoft.com/office/drawing/2014/main" id="{C27E63AC-6030-0F23-549A-53490D43763F}"/>
              </a:ext>
            </a:extLst>
          </p:cNvPr>
          <p:cNvGrpSpPr/>
          <p:nvPr/>
        </p:nvGrpSpPr>
        <p:grpSpPr>
          <a:xfrm>
            <a:off x="316407" y="18790166"/>
            <a:ext cx="10170835" cy="5365933"/>
            <a:chOff x="684265" y="5838484"/>
            <a:chExt cx="14400000" cy="7597158"/>
          </a:xfrm>
        </p:grpSpPr>
        <p:sp>
          <p:nvSpPr>
            <p:cNvPr id="30" name="TextBox 50">
              <a:extLst>
                <a:ext uri="{FF2B5EF4-FFF2-40B4-BE49-F238E27FC236}">
                  <a16:creationId xmlns:a16="http://schemas.microsoft.com/office/drawing/2014/main" id="{7FCC2440-7B2A-140C-A779-3913BA327CFF}"/>
                </a:ext>
              </a:extLst>
            </p:cNvPr>
            <p:cNvSpPr txBox="1"/>
            <p:nvPr/>
          </p:nvSpPr>
          <p:spPr>
            <a:xfrm>
              <a:off x="684265" y="5838484"/>
              <a:ext cx="14400000" cy="1082277"/>
            </a:xfrm>
            <a:prstGeom prst="rect">
              <a:avLst/>
            </a:prstGeom>
            <a:solidFill>
              <a:srgbClr val="D9D9D9"/>
            </a:solidFill>
          </p:spPr>
          <p:txBody>
            <a:bodyPr wrap="square" lIns="254271" rIns="254271" bIns="101708" rtlCol="0" anchor="ctr">
              <a:spAutoFit/>
            </a:bodyPr>
            <a:lstStyle/>
            <a:p>
              <a:pPr defTabSz="2814939">
                <a:spcBef>
                  <a:spcPct val="20000"/>
                </a:spcBef>
              </a:pPr>
              <a:r>
                <a:rPr lang="en-NZ" sz="4000" dirty="0">
                  <a:solidFill>
                    <a:srgbClr val="3E444C"/>
                  </a:solidFill>
                  <a:latin typeface="Segoe UI Light" panose="020B0502040204020203" pitchFamily="34" charset="0"/>
                  <a:cs typeface="Segoe UI Light" panose="020B0502040204020203" pitchFamily="34" charset="0"/>
                </a:rPr>
                <a:t>Methods</a:t>
              </a:r>
            </a:p>
          </p:txBody>
        </p:sp>
        <p:sp>
          <p:nvSpPr>
            <p:cNvPr id="60" name="TextBox 51">
              <a:extLst>
                <a:ext uri="{FF2B5EF4-FFF2-40B4-BE49-F238E27FC236}">
                  <a16:creationId xmlns:a16="http://schemas.microsoft.com/office/drawing/2014/main" id="{5D7A0558-D66B-C3C1-834D-A3051DB1F059}"/>
                </a:ext>
              </a:extLst>
            </p:cNvPr>
            <p:cNvSpPr txBox="1"/>
            <p:nvPr/>
          </p:nvSpPr>
          <p:spPr>
            <a:xfrm>
              <a:off x="684265" y="6898945"/>
              <a:ext cx="14400000" cy="6536697"/>
            </a:xfrm>
            <a:prstGeom prst="rect">
              <a:avLst/>
            </a:prstGeom>
            <a:solidFill>
              <a:srgbClr val="1BBBE9">
                <a:alpha val="5000"/>
              </a:srgbClr>
            </a:solidFill>
          </p:spPr>
          <p:txBody>
            <a:bodyPr wrap="square" lIns="254271" tIns="127135" rIns="254271" bIns="127135" rtlCol="0" anchor="t">
              <a:spAutoFit/>
            </a:bodyPr>
            <a:lstStyle/>
            <a:p>
              <a:pPr marL="403650" indent="-403650" algn="just" defTabSz="678908">
                <a:spcAft>
                  <a:spcPts val="1271"/>
                </a:spcAft>
                <a:buFont typeface="Wingdings" panose="05000000000000000000" pitchFamily="2" charset="2"/>
                <a:buChar char="§"/>
              </a:pPr>
              <a:r>
                <a:rPr lang="en-NZ" sz="2400" dirty="0">
                  <a:solidFill>
                    <a:srgbClr val="565656"/>
                  </a:solidFill>
                  <a:latin typeface="Segoe UI Light" panose="020B0502040204020203" pitchFamily="34" charset="0"/>
                  <a:cs typeface="Segoe UI Light" panose="020B0502040204020203" pitchFamily="34" charset="0"/>
                </a:rPr>
                <a:t>3D-printed base and electronics case</a:t>
              </a:r>
            </a:p>
            <a:p>
              <a:pPr marL="403650" indent="-403650" algn="just" defTabSz="678908">
                <a:spcAft>
                  <a:spcPts val="1271"/>
                </a:spcAft>
                <a:buFont typeface="Wingdings" panose="05000000000000000000" pitchFamily="2" charset="2"/>
                <a:buChar char="§"/>
              </a:pPr>
              <a:r>
                <a:rPr lang="en-NZ" sz="2400" dirty="0">
                  <a:solidFill>
                    <a:srgbClr val="565656"/>
                  </a:solidFill>
                  <a:latin typeface="Segoe UI Light" panose="020B0502040204020203" pitchFamily="34" charset="0"/>
                  <a:cs typeface="Segoe UI Light" panose="020B0502040204020203" pitchFamily="34" charset="0"/>
                </a:rPr>
                <a:t>Membrane constructed by brushing multiple layers of liquid latex on a continuously rotating mold (see Figure 2)</a:t>
              </a:r>
            </a:p>
            <a:p>
              <a:pPr marL="403650" indent="-403650" algn="just" defTabSz="678908">
                <a:spcAft>
                  <a:spcPts val="1271"/>
                </a:spcAft>
                <a:buFont typeface="Wingdings" panose="05000000000000000000" pitchFamily="2" charset="2"/>
                <a:buChar char="§"/>
              </a:pPr>
              <a:r>
                <a:rPr lang="en-NZ" sz="2400" dirty="0">
                  <a:solidFill>
                    <a:srgbClr val="565656"/>
                  </a:solidFill>
                  <a:latin typeface="Segoe UI Light" panose="020B0502040204020203" pitchFamily="34" charset="0"/>
                  <a:cs typeface="Segoe UI Light" panose="020B0502040204020203" pitchFamily="34" charset="0"/>
                </a:rPr>
                <a:t>Measuring the gripping force for different options of filling percentage of granules, granule types and membrane thicknesses (see Figure 3)</a:t>
              </a:r>
            </a:p>
            <a:p>
              <a:pPr marL="403650" indent="-403650" algn="just" defTabSz="678908">
                <a:spcAft>
                  <a:spcPts val="1271"/>
                </a:spcAft>
                <a:buFont typeface="Wingdings" panose="05000000000000000000" pitchFamily="2" charset="2"/>
                <a:buChar char="§"/>
              </a:pPr>
              <a:r>
                <a:rPr lang="en-NZ" sz="2400" dirty="0">
                  <a:solidFill>
                    <a:srgbClr val="565656"/>
                  </a:solidFill>
                  <a:latin typeface="Segoe UI Light" panose="020B0502040204020203" pitchFamily="34" charset="0"/>
                  <a:cs typeface="Segoe UI Light" panose="020B0502040204020203" pitchFamily="34" charset="0"/>
                </a:rPr>
                <a:t>Determination of the gripping force for different filling percentages of granules in the membrane, granule types, and membrane thicknesses </a:t>
              </a:r>
            </a:p>
            <a:p>
              <a:pPr marL="403650" indent="-403650" algn="just" defTabSz="678908">
                <a:spcAft>
                  <a:spcPts val="1271"/>
                </a:spcAft>
                <a:buFont typeface="Wingdings" panose="05000000000000000000" pitchFamily="2" charset="2"/>
                <a:buChar char="§"/>
              </a:pPr>
              <a:r>
                <a:rPr lang="en-NZ" sz="2400" dirty="0">
                  <a:solidFill>
                    <a:srgbClr val="565656"/>
                  </a:solidFill>
                  <a:latin typeface="Segoe UI Light" panose="020B0502040204020203" pitchFamily="34" charset="0"/>
                  <a:cs typeface="Segoe UI Light" panose="020B0502040204020203" pitchFamily="34" charset="0"/>
                </a:rPr>
                <a:t>Evaluation of the options on the criteria gripping force, ease of insertion of the foot in the membrane, durability, reproducibility and mass of the device following the VDI2225-guideline.</a:t>
              </a:r>
            </a:p>
          </p:txBody>
        </p:sp>
      </p:grpSp>
      <p:sp>
        <p:nvSpPr>
          <p:cNvPr id="61" name="Text Placeholder 2">
            <a:extLst>
              <a:ext uri="{FF2B5EF4-FFF2-40B4-BE49-F238E27FC236}">
                <a16:creationId xmlns:a16="http://schemas.microsoft.com/office/drawing/2014/main" id="{B4322255-DE3D-BE3D-F5A6-5D72C65CAB6A}"/>
              </a:ext>
            </a:extLst>
          </p:cNvPr>
          <p:cNvSpPr txBox="1">
            <a:spLocks/>
          </p:cNvSpPr>
          <p:nvPr/>
        </p:nvSpPr>
        <p:spPr>
          <a:xfrm>
            <a:off x="10907836" y="13647448"/>
            <a:ext cx="10170835" cy="544829"/>
          </a:xfrm>
          <a:prstGeom prst="rect">
            <a:avLst/>
          </a:prstGeom>
        </p:spPr>
        <p:txBody>
          <a:bodyPr wrap="square" lIns="0">
            <a:spAutoFit/>
          </a:bodyPr>
          <a:lstStyle>
            <a:lvl1pPr marL="0" indent="0" algn="l" defTabSz="914400" rtl="0" eaLnBrk="1" latinLnBrk="0" hangingPunct="1">
              <a:lnSpc>
                <a:spcPct val="90000"/>
              </a:lnSpc>
              <a:spcBef>
                <a:spcPts val="1000"/>
              </a:spcBef>
              <a:buFont typeface="Arial" panose="020B0604020202020204" pitchFamily="34" charset="0"/>
              <a:buNone/>
              <a:defRPr sz="44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r>
              <a:rPr lang="en-NZ" sz="3200" dirty="0">
                <a:latin typeface="Segoe UI Light" panose="020B0502040204020203" pitchFamily="34" charset="0"/>
                <a:cs typeface="Segoe UI Light" panose="020B0502040204020203" pitchFamily="34" charset="0"/>
              </a:rPr>
              <a:t>Results of the tensile test</a:t>
            </a:r>
          </a:p>
        </p:txBody>
      </p:sp>
      <p:sp>
        <p:nvSpPr>
          <p:cNvPr id="62" name="Text Placeholder 2">
            <a:extLst>
              <a:ext uri="{FF2B5EF4-FFF2-40B4-BE49-F238E27FC236}">
                <a16:creationId xmlns:a16="http://schemas.microsoft.com/office/drawing/2014/main" id="{3EE6549C-0481-50AE-AFE1-20CDCA96F35E}"/>
              </a:ext>
            </a:extLst>
          </p:cNvPr>
          <p:cNvSpPr txBox="1">
            <a:spLocks/>
          </p:cNvSpPr>
          <p:nvPr/>
        </p:nvSpPr>
        <p:spPr>
          <a:xfrm>
            <a:off x="10907836" y="19108896"/>
            <a:ext cx="10170835" cy="544829"/>
          </a:xfrm>
          <a:prstGeom prst="rect">
            <a:avLst/>
          </a:prstGeom>
        </p:spPr>
        <p:txBody>
          <a:bodyPr wrap="square" lIns="0">
            <a:spAutoFit/>
          </a:bodyPr>
          <a:lstStyle>
            <a:lvl1pPr marL="0" indent="0" algn="l" defTabSz="914400" rtl="0" eaLnBrk="1" latinLnBrk="0" hangingPunct="1">
              <a:lnSpc>
                <a:spcPct val="90000"/>
              </a:lnSpc>
              <a:spcBef>
                <a:spcPts val="1000"/>
              </a:spcBef>
              <a:buFont typeface="Arial" panose="020B0604020202020204" pitchFamily="34" charset="0"/>
              <a:buNone/>
              <a:defRPr sz="44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r>
              <a:rPr lang="en-NZ" sz="3200" dirty="0">
                <a:latin typeface="Segoe UI Light" panose="020B0502040204020203" pitchFamily="34" charset="0"/>
                <a:cs typeface="Segoe UI Light" panose="020B0502040204020203" pitchFamily="34" charset="0"/>
              </a:rPr>
              <a:t>Assembled demonstrator</a:t>
            </a:r>
          </a:p>
        </p:txBody>
      </p:sp>
    </p:spTree>
    <p:extLst>
      <p:ext uri="{BB962C8B-B14F-4D97-AF65-F5344CB8AC3E}">
        <p14:creationId xmlns:p14="http://schemas.microsoft.com/office/powerpoint/2010/main" val="1114439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grpId="0" nodeType="withEffect" nodePh="1">
                                  <p:stCondLst>
                                    <p:cond delay="0"/>
                                  </p:stCondLst>
                                  <p:endCondLst>
                                    <p:cond evt="begin" delay="0">
                                      <p:tn val="29"/>
                                    </p:cond>
                                  </p:end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40" grpId="0"/>
      <p:bldP spid="41" grpId="0" animBg="1"/>
      <p:bldP spid="42" grpId="0" animBg="1"/>
      <p:bldP spid="46" grpId="0"/>
      <p:bldP spid="59" grpId="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788</Words>
  <Application>Microsoft Office PowerPoint</Application>
  <PresentationFormat>Benutzerdefiniert</PresentationFormat>
  <Paragraphs>97</Paragraphs>
  <Slides>1</Slides>
  <Notes>0</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1</vt:i4>
      </vt:variant>
    </vt:vector>
  </HeadingPairs>
  <TitlesOfParts>
    <vt:vector size="9" baseType="lpstr">
      <vt:lpstr>Arial</vt:lpstr>
      <vt:lpstr>Calibri</vt:lpstr>
      <vt:lpstr>Calibri Light</vt:lpstr>
      <vt:lpstr>Cambria Math</vt:lpstr>
      <vt:lpstr>Segoe UI Light</vt:lpstr>
      <vt:lpstr>Univers</vt:lpstr>
      <vt:lpstr>Wingdings</vt:lpstr>
      <vt:lpstr>Office Theme</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Respiratory System Elastance Monitoring during PEEP Titration</dc:title>
  <dc:creator>Chris Pretty</dc:creator>
  <cp:lastModifiedBy>Nahed Halouani</cp:lastModifiedBy>
  <cp:revision>507</cp:revision>
  <dcterms:created xsi:type="dcterms:W3CDTF">2012-01-27T01:53:46Z</dcterms:created>
  <dcterms:modified xsi:type="dcterms:W3CDTF">2024-04-01T15:55:29Z</dcterms:modified>
</cp:coreProperties>
</file>